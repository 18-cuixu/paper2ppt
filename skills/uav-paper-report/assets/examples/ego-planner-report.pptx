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502920" y="2761488"/>
            <a:ext cx="11201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EGO-Planner: An ESDF-free Gradient-based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Local Planner for Quadrotors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77056"/>
            <a:ext cx="1218895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Xin Zhou, Zhepei Wang, Hongkai Ye, Chao Xu, Fei Gao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IEEE Robotics and Automation Letters,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论文与问题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0972800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论文关注四旋翼在未知或局部已知环境中的在线局部轨迹规划。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传统gradient‑based规划依赖ESDF提供距离和梯度。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轨⁠迹⁠优⁠化只访问ESDF的局部子空间，而ESDF维护需要更新更大范围地图。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EGO‑Planner通过去除ESDF维护，降低计算开销并保持安全、平滑和动⁠力⁠学⁠可⁠行⁠性。</a:t>
            </a:r>
          </a:p>
          <a:p>
            <a:pPr algn="l" marL="560000" indent="-105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论文场景包括室⁠内⁠窄⁠通⁠道、有限视场相机和森林飞行等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实时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任务。</a:t>
            </a:r>
          </a:p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问题链路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传统路线：深度图融合后维护局部ESDF，再把距离和梯度交给优化器。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主要矛盾：ESDF更新范围大，但优化只访问控制点附近的少量空间。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论文切入点：保留影响当前轨迹的障碍信息，直接生成避障梯度。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212080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86384" y="546811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RA-L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70448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论文来源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Robotics and Automation Letters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546811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Quadrotor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5870448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局部轨迹规划与重规划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546811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5870448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工程形态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论文同步开源系统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为什么 ESDF 会成为瓶颈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图1对比了ESDF更新范围和轨⁠迹⁠优⁠化覆盖空间。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完整局部ESDF的维护范围较大，其中大量区域不会直接影响最终轨迹。</a:t>
            </a:r>
          </a:p>
        </p:txBody>
      </p:sp>
      <p:pic>
        <p:nvPicPr>
          <p:cNvPr id="7" name="Picture 6" descr="fig1_esdf_rang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857637" y="2487168"/>
            <a:ext cx="3417045" cy="2359152"/>
          </a:xfrm>
          <a:prstGeom prst="rect">
            <a:avLst/>
          </a:prstGeom>
        </p:spPr>
      </p:pic>
      <p:pic>
        <p:nvPicPr>
          <p:cNvPr id="8" name="Picture 7" descr="fig2_local_minimum.pn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7009638" y="2450592"/>
            <a:ext cx="3336036" cy="2212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" y="521208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40080" y="5376672"/>
            <a:ext cx="1092708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左图：红色框为ESDF更新范围，紫色区域为轨⁠迹⁠优⁠化实际覆盖空间。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右图：有⁠限⁠F⁠O⁠V下障碍背面不可见，ESDF梯度也可能把轨迹推入局部极小。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方法转向碰撞触发的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提取，减少无关地图维护。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ESDF 瓶颈与局部极小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计算瓶颈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899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ESDF更新范围通常大于轨迹实际搜索空间。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局部地图每次融合深度图后都要维护距离场。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轨⁠迹⁠优⁠化只需要当前控制点附近的梯度。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大量ESDF更新没有进入优化目标。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822191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94944" y="398678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优化瓶颈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08996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有⁠限⁠F⁠O⁠V让障碍背面不可见，距离场可能误导轨迹。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初始轨迹穿过障碍时，梯度方向不一定指向可行通道。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单独依赖ESDF时，局部优化容易停留在狭窄区域。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EGO显式记录碰撞约束，并通过控制点优化将轨迹推离障碍。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1.3 主要贡献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0972800" cy="3419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主要贡献集中在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ESDF‑free</a:t>
            </a: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局部规划框架、控制点优化和动⁠力⁠学⁠可⁠行⁠性修正。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提出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ESDF‑free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局部规划框架，直接从障碍生成排斥梯度。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把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控制点、碰⁠撞⁠惩⁠罚和动力学惩罚放入统一优化目标。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提出时⁠间⁠重⁠分⁠配和各向异性拟合，使优化后轨迹重新满足动力学约束。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集成到自主四旋翼系统，并在仿真、室内和森⁠林⁠场⁠景中验证。</a:t>
            </a:r>
          </a:p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贡献链路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表示：仅将当前轨迹相关的碰撞障碍写入优化。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控制点优化：用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控制点统一承载平滑、避障和动力学代价。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65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系统验证：在仿真、室⁠内⁠窄⁠通⁠道和森林飞行中验证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实时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212080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/>
          <p:cNvSpPr txBox="1"/>
          <p:nvPr/>
        </p:nvSpPr>
        <p:spPr>
          <a:xfrm>
            <a:off x="786384" y="546811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0.37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70448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无 ESDF 总耗时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EGO 与 EI 成功率同为 0.89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546811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0.81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5870448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对比规划时间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低于 EWOK 与 Fast-Planner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5468112"/>
            <a:ext cx="341985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24.38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5870448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平均飞行时间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616305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实验表中低于两个基线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{p,v} 障碍表示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碰撞控制点不再查询ESDF，而是绑定障碍表面锚点p和方向向量v。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{p,v} 对定义了局部线性距离场，也给出可直接使用的梯度方向。</a:t>
            </a:r>
          </a:p>
        </p:txBody>
      </p:sp>
      <p:pic>
        <p:nvPicPr>
          <p:cNvPr id="7" name="Picture 6" descr="fig3_pv_pairs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145642" y="2542032"/>
            <a:ext cx="6139482" cy="2249424"/>
          </a:xfrm>
          <a:prstGeom prst="rect">
            <a:avLst/>
          </a:prstGeom>
        </p:spPr>
      </p:pic>
      <p:pic>
        <p:nvPicPr>
          <p:cNvPr id="8" name="Picture 7" descr="fig4_convex_hull.pn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7882127" y="2771746"/>
            <a:ext cx="3236976" cy="16985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" y="5120640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94944" y="5285232"/>
            <a:ext cx="1089964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轨迹穿过障碍时，为相关控制点生成多个 {p,v} 对；优化阶段仅处理这些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9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9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凸包性质让控⁠制⁠点⁠约⁠束可间接约束曲线段，比逐点采样更稳定。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B-spline 控制点表示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轨迹由控制点Q和均匀节点间隔 Δt表示。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位置曲线由相邻控制点加权得到。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速度、加速度和jerk写成控制点差分，动力学约束不需要对连续曲线逐点检查。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1635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控制点差分关系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182112"/>
            <a:ext cx="9765792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p(t) = Σᵢ Nᵢ,ₖ(t) Qᵢ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3538728"/>
            <a:ext cx="9765792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Vᵢ = (Qᵢ₊₁ − Qᵢ)/Δt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895344"/>
            <a:ext cx="9765792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Aᵢ = (Vᵢ₊₁ − Vᵢ)/Δt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4251960"/>
            <a:ext cx="9765792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Jᵢ = (Aᵢ₊₁ − Aᵢ)/Δt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4864608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713232" y="5047488"/>
            <a:ext cx="10771632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7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的凸包性质把连续曲线安全性转成控制点附近的局部约束。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速度、加速度和jerk都由差分得到，Jd直接惩罚超限控制点。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局部支撑意味着修改一个控制点只影响有限时间段，适合高频重规划。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ESDF-free 障碍梯度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3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碰撞控制点直接关联 {p,v} 障碍对，用局部几何关系构造距离和排斥梯度。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p是障碍表面锚点，v是从控制点指向p的排斥方向。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4140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距离定义与碰撞惩罚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06624"/>
            <a:ext cx="10680192" cy="308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(1)    </a:t>
            </a: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dᵢⱼ = (Qᵢ − pᵢⱼ) · vᵢⱼ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57753"/>
            <a:ext cx="10680192" cy="308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(5a)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cᵢⱼ = s₀ − dᵢⱼ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8883"/>
            <a:ext cx="10680192" cy="308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(5b)    </a:t>
            </a:r>
            <a:r>
              <a:rPr sz="21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jᶜ(i,j)=0,                              cᵢⱼ≤0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60012"/>
            <a:ext cx="10680192" cy="308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(5c)    </a:t>
            </a:r>
            <a:r>
              <a:rPr sz="21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jᶜ(i,j)=cᵢⱼ³,                         0&lt;cᵢⱼ≤s₀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11142"/>
            <a:ext cx="10680192" cy="3089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(5d)    </a:t>
            </a:r>
            <a:r>
              <a:rPr sz="2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jᶜ(i,j)=3s₀cᵢⱼ²−3s₀²cᵢⱼ+s₀³,   cᵢⱼ&gt;s₀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479145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713232" y="4974336"/>
            <a:ext cx="1080820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dᵢⱼ&gt;0表示控制点已离开该障碍半空间；dᵢⱼ 越小，碰⁠撞⁠惩⁠罚越大。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分段三次函数保持连续可导，避免优化过程中梯度突变。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当cᵢⱼ&gt;s₀ 时继续增大惩罚，相当于强制把控制点推回安全侧。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每个碰撞控制点可关联多个 {p,v} 对，用来描述附近多个障碍面。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轨迹优化目标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轨迹用均匀 </a:t>
            </a:r>
            <a:r>
              <a:rPr sz="203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20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控制点Q表示，优化目标由平滑、避障和动⁠力⁠学⁠可⁠行⁠性组成。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论文采用 </a:t>
            </a:r>
            <a:r>
              <a:rPr sz="203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L‑BFGS</a:t>
            </a:r>
            <a:r>
              <a:rPr sz="20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做数值优化，适合快速重启和近似二阶更新。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408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核心目标函数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651760"/>
            <a:ext cx="10698480" cy="346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(3)    </a:t>
            </a: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  J(Q) = λₛJₛ + λᶜJᶜ + λᵈJᵈ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044952"/>
            <a:ext cx="10698480" cy="346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(4)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Jₛ = Σ||Aᵢ||₂² + Σ||Jᵢ||₂²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38144"/>
            <a:ext cx="10698480" cy="346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(6)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Jᶜ = Σᵢ jᶜ(Qᵢ),    jᶜ(Qᵢ)=Σⱼ jᶜ(i,j)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831335"/>
            <a:ext cx="10698480" cy="346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(8)    </a:t>
            </a:r>
            <a:r>
              <a:rPr sz="21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Jᵈ = Σᵢ wᵥF(Vᵢ)+Σᵢ wₐF(Aᵢ)+Σᵢ wⱼF(Jᵢ)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4480560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713232" y="4663440"/>
            <a:ext cx="10808208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Jₛ 控制加速度和jerk，保证轨迹平滑；Jc将控制点推离障碍。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Jd限制速度、加速度和jerk，使轨迹满足四旋翼动力学约束。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三个权重 λₛ、λᶜ、λᵈ 决定平滑性、安全距离和可飞性的取舍。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优化变量集中在 </a:t>
            </a:r>
            <a:r>
              <a:rPr sz="18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控制点Q，避免对密集采样轨迹点逐一优化。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L-BFGS 数值优化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优化器性能直接影响</a:t>
            </a:r>
            <a:r>
              <a:rPr sz="202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局⁠部⁠重⁠规⁠划</a:t>
            </a:r>
            <a:r>
              <a:rPr sz="20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频率和高频控制循环中的稳定性。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395728"/>
          <a:ext cx="1093622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244"/>
                <a:gridCol w="2187244"/>
                <a:gridCol w="2187244"/>
                <a:gridCol w="2187244"/>
                <a:gridCol w="2187248"/>
              </a:tblGrid>
              <a:tr h="434340"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Optimizer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Avg time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time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 Avg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0.50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1.14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268.2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T-NEWTON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0.79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3.59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344.29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none"/>
                    <a:lstStyle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L-BFGS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0.37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0.80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79.04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4498848"/>
            <a:ext cx="10771632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94944" y="4681728"/>
            <a:ext cx="10844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9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L‑BFGS</a:t>
            </a: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不显式求Hessian，而是通过历史梯度近似二阶方向，适合小规模反复重启的局部问题。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表中 </a:t>
            </a:r>
            <a:r>
              <a:rPr sz="19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L‑BFGS</a:t>
            </a: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同时给出最高</a:t>
            </a:r>
            <a:r>
              <a:rPr sz="19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成功率</a:t>
            </a: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和最低平均耗时，因此成为实验部分默认优化器。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可导代价函数为 </a:t>
            </a:r>
            <a:r>
              <a:rPr sz="196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L‑BFGS</a:t>
            </a:r>
            <a:r>
              <a:rPr sz="19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提供稳定梯度，使控制点能够快速收敛到无碰撞轨迹。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时间重分配与轨迹修正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优化后轨迹若违反动力学限制，EGO‑Planner会拉长时间分配并重新拟合曲线。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各向异性拟合使轨迹沿切向调整更灵活、径向偏移更保守，从而保持避障裕度。</a:t>
            </a:r>
          </a:p>
        </p:txBody>
      </p:sp>
      <p:pic>
        <p:nvPicPr>
          <p:cNvPr id="7" name="Picture 6" descr="fig5_refinement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502459" y="2432304"/>
            <a:ext cx="2609497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675887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重分配与拟合公式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005072"/>
            <a:ext cx="10625328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(14)    </a:t>
            </a: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rₑ = max{|Vᵢ,r/vₘ|, √|Aⱼ,r/aₘ|, ³√|Jₖ,r/jₘ|, 1}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361688"/>
            <a:ext cx="10625328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(15)    </a:t>
            </a:r>
            <a:r>
              <a:rPr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Δt′ = rₑ Δt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718304"/>
            <a:ext cx="10625328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(16)    </a:t>
            </a:r>
            <a:r>
              <a:rPr sz="2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  J′(Q)=λₛJₛ + λᵈJᵈ + λᶠJᶠ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074920"/>
            <a:ext cx="10625328" cy="31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(18)    </a:t>
            </a:r>
            <a:r>
              <a:rPr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Jᶠ = ∫₀¹ [dₐ(αT′)²/a² + dᵣ(αT′)²/b²] dα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5632704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extBox 13"/>
          <p:cNvSpPr txBox="1"/>
          <p:nvPr/>
        </p:nvSpPr>
        <p:spPr>
          <a:xfrm>
            <a:off x="713232" y="5797296"/>
            <a:ext cx="108082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rₑ 根据速度、加速度和jerk超限比例确定；拟合目标Jf保留原始安全轨迹形状，同时继续压平高阶导数。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2.7 Rebound Planning 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Algorithm 2将障碍信息补充、梯度优化和动力学修正组成在线闭环。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仅在碰撞仍存在时继续添加障碍信息，因此维护的是“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”集合。</a:t>
            </a:r>
          </a:p>
        </p:txBody>
      </p:sp>
      <p:pic>
        <p:nvPicPr>
          <p:cNvPr id="7" name="Picture 6" descr="algo2_rebound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4243473" y="2450592"/>
            <a:ext cx="3509980" cy="2487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6656" y="510235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713232" y="5266944"/>
            <a:ext cx="10808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流程分成三步：FindInit生成初始控制点，CheckAndAddObstacleInfo记录新增碰撞约束，OneStepOptimize通过 </a:t>
            </a:r>
            <a:r>
              <a:rPr sz="17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L‑BFGS</a:t>
            </a: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更新控制点直到轨迹无碰撞。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若IsFeasible不满足，再进入ReAllocateTime与CurveFittingOptimize做动力学修正。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ESDF-free 消融对比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消融实验比较EGO、ENI和EI三种方式，核心差别是是否维护ESDF、是否改进初始路径。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EGO的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成功率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接近EI，但总时间显著更低。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2450592"/>
          <a:ext cx="106984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Vel Avg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Plan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ESDF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49.92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2.12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0.37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0.37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35.55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0.43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5.03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5.46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3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42.27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0.48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5.07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5.55 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3342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15.0×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3659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总耗时下降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5.55 ms → 0.37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3342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73659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成功率保持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502920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EGO 与 EI 相同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43342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5.07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473659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ESDF 维护成本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502920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 的主要时间来源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与 EWOK / Fast-Planner 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在相同地图和默认参数下，EGO‑Planner的路径更短、飞行时间更低，规划时间最低。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EGO‑Planner的轨迹能量高于Fast‑Planner，但仍保持可执行性和较高</a:t>
            </a:r>
            <a:r>
              <a:rPr sz="19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成功率</a:t>
            </a:r>
            <a:r>
              <a:rPr sz="19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</p:txBody>
      </p:sp>
      <p:pic>
        <p:nvPicPr>
          <p:cNvPr id="7" name="Picture 6" descr="fig7_time_bar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808786" y="2340864"/>
            <a:ext cx="4216298" cy="159105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13248" y="2340864"/>
          <a:ext cx="587044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8"/>
                <a:gridCol w="978408"/>
                <a:gridCol w="978408"/>
                <a:gridCol w="978408"/>
                <a:gridCol w="978408"/>
                <a:gridCol w="978408"/>
              </a:tblGrid>
              <a:tr h="370332"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Planner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t(s)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Length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tESDF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tplan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EWOK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31.00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59.05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246.12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Fast-Planner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30.76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45.18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135.21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3.29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none"/>
                    <a:lstStyle/>
                    <a:p>
                      <a:pPr algn="ctr"/>
                      <a:r>
                        <a:rPr sz="126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EGO-Planner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24.38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42.24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196.64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6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76656" y="418795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Picture 9" descr="page7-img1.jpe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4138340" y="4352544"/>
            <a:ext cx="3829975" cy="1078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5632704"/>
            <a:ext cx="108082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绿色轨迹对应EGO‑Planner，路径长度 </a:t>
            </a:r>
            <a:r>
              <a:rPr sz="17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42.24 m</a:t>
            </a:r>
            <a:r>
              <a:rPr sz="17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，飞行时间 </a:t>
            </a:r>
            <a:r>
              <a:rPr sz="17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24.38 s</a:t>
            </a:r>
            <a:r>
              <a:rPr sz="17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，规划时间 </a:t>
            </a:r>
            <a:r>
              <a:rPr sz="17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0.81 ms</a:t>
            </a:r>
            <a:r>
              <a:rPr sz="17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仿真轨迹对比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仿真轨迹用于补充表格指标，直观展示不同规划器的路径形态。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EGO的局部轨迹能绕开障碍密集区域，同时保持较短路径。</a:t>
            </a:r>
          </a:p>
        </p:txBody>
      </p:sp>
      <p:pic>
        <p:nvPicPr>
          <p:cNvPr id="7" name="Picture 6" descr="fig8_sim_traj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13232" y="2758553"/>
            <a:ext cx="5998464" cy="1944396"/>
          </a:xfrm>
          <a:prstGeom prst="rect">
            <a:avLst/>
          </a:prstGeom>
        </p:spPr>
      </p:pic>
      <p:pic>
        <p:nvPicPr>
          <p:cNvPr id="8" name="Picture 7" descr="page7-img1.jpe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6912864" y="3037926"/>
            <a:ext cx="4334256" cy="1221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" y="5449824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94944" y="5614416"/>
            <a:ext cx="10881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左侧展示三维仿真轨迹，右侧展示同一组对比方法的路径形态；绿色EGO轨迹更短且没有明显绕行。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实机飞行验证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9344"/>
            <a:ext cx="110185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实机实验覆盖室⁠内⁠窄⁠通⁠道、随⁠机⁠目⁠标⁠追⁠踪和森⁠林⁠场⁠景，验证有⁠限⁠F⁠O⁠V下的在线规划能力。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室内杂乱环境中最高速度达到3.56 m/s，系统仍能保持在线重规划。</a:t>
            </a:r>
          </a:p>
        </p:txBody>
      </p:sp>
      <p:pic>
        <p:nvPicPr>
          <p:cNvPr id="7" name="Picture 6" descr="fig6_local_traj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880542" y="2395728"/>
            <a:ext cx="5590691" cy="2724912"/>
          </a:xfrm>
          <a:prstGeom prst="rect">
            <a:avLst/>
          </a:prstGeom>
        </p:spPr>
      </p:pic>
      <p:pic>
        <p:nvPicPr>
          <p:cNvPr id="8" name="Picture 7" descr="page8-img7.jpe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7625801" y="2395728"/>
            <a:ext cx="2725501" cy="1408176"/>
          </a:xfrm>
          <a:prstGeom prst="rect">
            <a:avLst/>
          </a:prstGeom>
        </p:spPr>
      </p:pic>
      <p:pic>
        <p:nvPicPr>
          <p:cNvPr id="9" name="Picture 8" descr="page8-img9.png"/>
          <p:cNvPicPr>
            <a:picLocks noChangeAspect="1"/>
          </p:cNvPicPr>
          <p:nvPr/>
        </p:nvPicPr>
        <p:blipFill>
          <a:blip ns2:embed="rId5"/>
          <a:stretch>
            <a:fillRect/>
          </a:stretch>
        </p:blipFill>
        <p:spPr>
          <a:xfrm>
            <a:off x="7674660" y="3968496"/>
            <a:ext cx="2627783" cy="12252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6656" y="555955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713232" y="5705856"/>
            <a:ext cx="1080820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实机结果表明，在深度相机FOV受限时，轨迹能够随新障碍和新目标持续调整。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优势与局限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899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主要收益来自降低地图维护开销，同时保留梯度优化的轨迹质量。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7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集合使优化聚焦于当前轨迹附近的碰撞约束。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7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控制点让连续轨迹问题变成低维控制点问题。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87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L‑BFGS</a:t>
            </a: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和时⁠间⁠重⁠分⁠配保证了在线运行速度。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822191"/>
            <a:ext cx="10808208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694944" y="398678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089964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方法仍然是局部规划器，受初始轨迹和局部环境影响。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A* 初始路径若落入不良拓扑，局部优化可能无法跳出。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动态障碍只在慢速场景中讨论，复杂交互仍需要预测模块。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5"/>
              </a:spcAft>
            </a:pPr>
            <a:r>
              <a:rPr sz="18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时⁠间⁠重⁠分⁠配可能带来保守速度，需要更细的段级时间优化。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4.2 结论归纳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609344"/>
            <a:ext cx="11009376" cy="4681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EGO‑Planner的核心贡献是把ESDF查询换成</a:t>
            </a:r>
            <a:r>
              <a:rPr sz="19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19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约束，降低在线规划计算量。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方法层：用 {p,v} 对直接构造碰撞距离和梯度，避免维护大范围ESDF。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优化层：用平滑、碰撞、动力学三类惩罚统一更新 </a:t>
            </a:r>
            <a:r>
              <a:rPr sz="19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B‑spline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控制点。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后处理层：通过时⁠间⁠重⁠分⁠配和各向异性拟合恢复动⁠力⁠学⁠可⁠行⁠性。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结果层：规划时间约 </a:t>
            </a:r>
            <a:r>
              <a:rPr sz="19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0.81 ms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，对比方法中最低；无ESDF版本总耗时 </a:t>
            </a:r>
            <a:r>
              <a:rPr sz="19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0.37 ms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计算层面：从维护完整ESDF转为维护</a:t>
            </a:r>
            <a:r>
              <a:rPr sz="19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必要障碍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集合。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优化层面：从连续曲线约束转为控制点上的可导代价。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系统层面：感知、重规划和动力学修正形成在线闭环。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5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应用层面，EGO适合作为未知环境无人机系统中的快速</a:t>
            </a:r>
            <a:r>
              <a:rPr sz="19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局⁠部⁠重⁠规⁠划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模块，并与全局拓扑规划、动态障碍预测和多机避碰配合。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05  可借鉴方向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5.1 对无人机规划系统的启发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该方法可作为无人机系统中的快速</a:t>
            </a:r>
            <a:r>
              <a:rPr sz="19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局⁠部⁠重⁠规⁠划</a:t>
            </a:r>
            <a:r>
              <a:rPr sz="193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模块。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全局层给出航点或走廊，EGO‑Planner负责在局部未知障碍中生成可飞轨迹。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任务语义可转化为目标点、禁飞区、优先级和安全距离等规划约束。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规划器把这些语义约束转成局部目标和代价项，在线感知负责补充障碍信息。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9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ESDF‑free</a:t>
            </a: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思路适用于资源受限无人机，可进一步降低地图维护负担。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系统分工：任务层输出目标、约束和优先级；全局层生成航点和粗路径；局部层由EGO </a:t>
            </a:r>
            <a:r>
              <a:rPr sz="1939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实时</a:t>
            </a: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避障。</a:t>
            </a:r>
          </a:p>
          <a:p>
            <a:pPr algn="l" marL="350000" indent="-120000">
              <a:lnSpc>
                <a:spcPct val="105000"/>
              </a:lnSpc>
              <a:spcBef>
                <a:spcPts val="0"/>
              </a:spcBef>
              <a:spcAft>
                <a:spcPts val="7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可扩展方向包括动态障碍预测、多机避碰和全局拓扑切换。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0" y="3054096"/>
            <a:ext cx="1218895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