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237744" cy="6858000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576072" y="658368"/>
            <ns1:ext cx="4069080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603504" y="859536"/>
            <ns1:ext cx="5120640" cy="34747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4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Paper Reading / Quadrotor Planning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603504" y="1444752"/>
            <ns1:ext cx="10716768" cy="149961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31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Quad-LCD: Layered Control Decomposition Enables Actuator-Feasible Quadrotor Trajectory Planning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640080" y="3236976"/>
            <ns1:ext cx="8138160" cy="38404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620" b="0" i="0">
                <ns1:solidFill>
                  <ns1:srgbClr val="DAE2E6"/>
                </ns1:solidFill>
                <ns1:latin typeface="Times New Roman"/>
                <ns1:ea typeface="Times New Roman"/>
                <ns1:cs typeface="Times New Roman"/>
              </ns1:rPr>
              <ns1:t>Anusha Srikanthan, Hanli Zhang, Spencer Folk, Vijay Kumar, Nikolai Matni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640080" y="3657600"/>
            <ns1:ext cx="8138160" cy="34747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420" b="0" i="0">
                <ns1:solidFill>
                  <ns1:srgbClr val="BECAD0"/>
                </ns1:solidFill>
                <ns1:latin typeface="Times New Roman"/>
                <ns1:ea typeface="Times New Roman"/>
                <ns1:cs typeface="Times New Roman"/>
              </ns1:rPr>
              <ns1:t>arXiv:2505.10228v1 · 2025-05-15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640080" y="4645152"/>
            <ns1:ext cx="3480816" cy="859536"/>
          </ns1:xfrm>
          <ns1:prstGeom prst="roundRect">
            <ns1:avLst/>
          </ns1:prstGeom>
          <ns1:solidFill>
            <ns1:srgbClr val="26303A"/>
          </ns1:solidFill>
          <ns1:ln w="10160">
            <ns1:solidFill>
              <ns1:srgbClr val="4F606A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0" name="TextBox 9"/>
          <ns0:cNvSpPr txBox="1"/>
          <ns0:nvPr/>
        </ns0:nvSpPr>
        <ns0:spPr>
          <ns1:xfrm>
            <ns1:off x="731519" y="4736592"/>
            <ns1:ext cx="329793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49%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731519" y="5056632"/>
            <ns1:ext cx="329793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E2EAEE"/>
                </ns1:solidFill>
                <ns1:latin typeface="Times New Roman"/>
                <ns1:ea typeface="Times New Roman"/>
                <ns1:cs typeface="Times New Roman"/>
              </ns1:rPr>
              <ns1:t>crash-rate reduction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31519" y="5276088"/>
            <ns1:ext cx="329793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BBC7CD"/>
                </ns1:solidFill>
                <ns1:latin typeface="Times New Roman"/>
                <ns1:ea typeface="Times New Roman"/>
                <ns1:cs typeface="Times New Roman"/>
              </ns1:rPr>
              <ns1:t>aggressive maneuvers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4267200" y="4645152"/>
            <ns1:ext cx="3480816" cy="859536"/>
          </ns1:xfrm>
          <ns1:prstGeom prst="roundRect">
            <ns1:avLst/>
          </ns1:prstGeom>
          <ns1:solidFill>
            <ns1:srgbClr val="26303A"/>
          </ns1:solidFill>
          <ns1:ln w="10160">
            <ns1:solidFill>
              <ns1:srgbClr val="4F606A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4" name="TextBox 13"/>
          <ns0:cNvSpPr txBox="1"/>
          <ns0:nvPr/>
        </ns0:nvSpPr>
        <ns0:spPr>
          <ns1:xfrm>
            <ns1:off x="4358640" y="4736592"/>
            <ns1:ext cx="329793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200,000</ns1:t>
            </ns1:r>
          </ns1:p>
        </ns0:txBody>
      </ns0:sp>
      <ns0:sp>
        <ns0:nvSpPr>
          <ns0:cNvPr id="15" name="TextBox 14"/>
          <ns0:cNvSpPr txBox="1"/>
          <ns0:nvPr/>
        </ns0:nvSpPr>
        <ns0:spPr>
          <ns1:xfrm>
            <ns1:off x="4358640" y="5056632"/>
            <ns1:ext cx="329793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E2EAEE"/>
                </ns1:solidFill>
                <ns1:latin typeface="Times New Roman"/>
                <ns1:ea typeface="Times New Roman"/>
                <ns1:cs typeface="Times New Roman"/>
              </ns1:rPr>
              <ns1:t>simulation rollouts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4358640" y="5276088"/>
            <ns1:ext cx="329793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BBC7CD"/>
                </ns1:solidFill>
                <ns1:latin typeface="Times New Roman"/>
                <ns1:ea typeface="Times New Roman"/>
                <ns1:cs typeface="Times New Roman"/>
              </ns1:rPr>
              <ns1:t>tracking-cost data</ns1:t>
            </ns1:r>
          </ns1:p>
        </ns0:txBody>
      </ns0:sp>
      <ns0:sp>
        <ns0:nvSpPr>
          <ns0:cNvPr id="17" name="Rounded Rectangle 16"/>
          <ns0:cNvSpPr/>
          <ns0:nvPr/>
        </ns0:nvSpPr>
        <ns0:spPr>
          <ns1:xfrm>
            <ns1:off x="7894320" y="4645152"/>
            <ns1:ext cx="3480816" cy="859536"/>
          </ns1:xfrm>
          <ns1:prstGeom prst="roundRect">
            <ns1:avLst/>
          </ns1:prstGeom>
          <ns1:solidFill>
            <ns1:srgbClr val="26303A"/>
          </ns1:solidFill>
          <ns1:ln w="10160">
            <ns1:solidFill>
              <ns1:srgbClr val="4F606A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8" name="TextBox 17"/>
          <ns0:cNvSpPr txBox="1"/>
          <ns0:nvPr/>
        </ns0:nvSpPr>
        <ns0:spPr>
          <ns1:xfrm>
            <ns1:off x="7985759" y="4736592"/>
            <ns1:ext cx="329793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Crazyflie</ns1:t>
            </ns1:r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7985759" y="5056632"/>
            <ns1:ext cx="329793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E2EAEE"/>
                </ns1:solidFill>
                <ns1:latin typeface="Times New Roman"/>
                <ns1:ea typeface="Times New Roman"/>
                <ns1:cs typeface="Times New Roman"/>
              </ns1:rPr>
              <ns1:t>hardware check</ns1:t>
            </ns1:r>
          </ns1:p>
        </ns0:txBody>
      </ns0:sp>
      <ns0:sp>
        <ns0:nvSpPr>
          <ns0:cNvPr id="20" name="TextBox 19"/>
          <ns0:cNvSpPr txBox="1"/>
          <ns0:nvPr/>
        </ns0:nvSpPr>
        <ns0:spPr>
          <ns1:xfrm>
            <ns1:off x="7985759" y="5276088"/>
            <ns1:ext cx="329793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BBC7CD"/>
                </ns1:solidFill>
                <ns1:latin typeface="Times New Roman"/>
                <ns1:ea typeface="Times New Roman"/>
                <ns1:cs typeface="Times New Roman"/>
              </ns1:rPr>
              <ns1:t>successful flights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9253728" y="6291072"/>
            <ns1:ext cx="1938528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40" b="0" i="0">
                <ns1:solidFill>
                  <ns1:srgbClr val="BECAD0"/>
                </ns1:solidFill>
                <ns1:latin typeface="Times New Roman"/>
                <ns1:ea typeface="Times New Roman"/>
                <ns1:cs typeface="Times New Roman"/>
              </ns1:rPr>
              <ns1:t>2026-05-09</ns1:t>
            </ns1:r>
          </ns1:p>
        </ns0:txBody>
      </ns0:sp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01  背景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电机饱和使固定控制器下的轨迹规划失效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02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13232" y="1033271"/>
            <ns1:ext cx="5577840" cy="2468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论文研究四旋翼在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fixed controller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下的轨迹生成，核心约束不是几何避障，而是电机转速饱和后的执行可行性。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传统 minimum snap 或差分平坦规划默认参考轨迹可被跟踪，未直接写入电机限幅。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当机动过激时，控制器为追踪参考会要求过大的推力或力矩，单个或多个电机进入饱和。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饱和后闭环系统出现 uncontrolled drift，实际飞行偏离参考并可能撞击环境。</ns1:t>
            </ns1:r>
          </ns1:p>
        </ns0:txBody>
      </ns0:sp>
      <ns0:sp>
        <ns0:nvSpPr>
          <ns0:cNvPr id="13" name="Rectangle 12"/>
          <ns0:cNvSpPr/>
          <ns0:nvPr/>
        </ns0:nvSpPr>
        <ns0:spPr>
          <ns1:xfrm>
            <ns1:off x="6973014" y="1074420"/>
            <ns1:ext cx="3098386" cy="3200400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4" name="Picture 13" descr="fig1_motor_saturation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6995874" y="1097280"/>
            <ns1:ext cx="3052666" cy="3154680"/>
          </ns1:xfrm>
          <ns1:prstGeom prst="rect">
            <ns1:avLst/>
          </ns1:prstGeom>
        </ns0:spPr>
      </ns0:pic>
      <ns0:cxnSp>
        <ns0:nvCxnSpPr>
          <ns0:cNvPr id="15" name="Connector 14"/>
          <ns0:cNvCxnSpPr/>
          <ns0:nvPr/>
        </ns0:nvCxnSpPr>
        <ns0:spPr>
          <ns1:xfrm>
            <ns1:off x="713232" y="3913632"/>
            <ns1:ext cx="5532120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Rounded Rectangle 15"/>
          <ns0:cNvSpPr/>
          <ns0:nvPr/>
        </ns0:nvSpPr>
        <ns0:spPr>
          <ns1:xfrm>
            <ns1:off x="749808" y="4297680"/>
            <ns1:ext cx="3343655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7" name="TextBox 16"/>
          <ns0:cNvSpPr txBox="1"/>
          <ns0:nvPr/>
        </ns0:nvSpPr>
        <ns0:spPr>
          <ns1:xfrm>
            <ns1:off x="841247" y="4389120"/>
            <ns1:ext cx="316077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49%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841247" y="4709160"/>
            <ns1:ext cx="316077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crash rate reduction</ns1:t>
            </ns1:r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841247" y="4928616"/>
            <ns1:ext cx="316077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simulation comparison</ns1:t>
            </ns1:r>
          </ns1:p>
        </ns0:txBody>
      </ns0:sp>
      <ns0:sp>
        <ns0:nvSpPr>
          <ns0:cNvPr id="20" name="Rounded Rectangle 19"/>
          <ns0:cNvSpPr/>
          <ns0:nvPr/>
        </ns0:nvSpPr>
        <ns0:spPr>
          <ns1:xfrm>
            <ns1:off x="4239768" y="4297680"/>
            <ns1:ext cx="3343655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1" name="TextBox 20"/>
          <ns0:cNvSpPr txBox="1"/>
          <ns0:nvPr/>
        </ns0:nvSpPr>
        <ns0:spPr>
          <ns1:xfrm>
            <ns1:off x="4331208" y="4389120"/>
            <ns1:ext cx="316077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6.0%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4331208" y="4709160"/>
            <ns1:ext cx="316077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Ours-GC crash rate</ns1:t>
            </ns1:r>
          </ns1:p>
        </ns0:txBody>
      </ns0:sp>
      <ns0:sp>
        <ns0:nvSpPr>
          <ns0:cNvPr id="23" name="TextBox 22"/>
          <ns0:cNvSpPr txBox="1"/>
          <ns0:nvPr/>
        </ns0:nvSpPr>
        <ns0:spPr>
          <ns1:xfrm>
            <ns1:off x="4331208" y="4928616"/>
            <ns1:ext cx="316077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100 waypoint tasks</ns1:t>
            </ns1:r>
          </ns1:p>
        </ns0:txBody>
      </ns0:sp>
      <ns0:sp>
        <ns0:nvSpPr>
          <ns0:cNvPr id="24" name="Rounded Rectangle 23"/>
          <ns0:cNvSpPr/>
          <ns0:nvPr/>
        </ns0:nvSpPr>
        <ns0:spPr>
          <ns1:xfrm>
            <ns1:off x="7729728" y="4297680"/>
            <ns1:ext cx="3343655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5" name="TextBox 24"/>
          <ns0:cNvSpPr txBox="1"/>
          <ns0:nvPr/>
        </ns0:nvSpPr>
        <ns0:spPr>
          <ns1:xfrm>
            <ns1:off x="7821167" y="4389120"/>
            <ns1:ext cx="316077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2 m/s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7821167" y="4709160"/>
            <ns1:ext cx="316077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segment speed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7821167" y="4928616"/>
            <ns1:ext cx="316077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aggressive setting</ns1:t>
            </ns1:r>
          </ns1:p>
        </ns0:txBody>
      </ns0:sp>
      <ns0:sp>
        <ns0:nvSpPr>
          <ns0:cNvPr id="28" name="TextBox 27"/>
          <ns0:cNvSpPr txBox="1"/>
          <ns0:nvPr/>
        </ns0:nvSpPr>
        <ns0:spPr>
          <ns1:xfrm>
            <ns1:off x="749808" y="5504688"/>
            <ns1:ext cx="10287000" cy="51206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5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本文把“参考轨迹是否能被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跟上”作为规划代价的一部分，使轨迹在生成阶段主动避开饱和区域。</ns1:t>
            </ns1: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01  背景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差分平坦轨迹需要补上执行约束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03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13232" y="1033271"/>
            <ns1:ext cx="10442448" cy="8961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差分平坦性让四旋翼轨迹可以由平坦输出直接生成控制输入，但论文指出该路径仍依赖“姿态变化不过激、转速不饱和”的隐含条件。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在快速 roll / pitch / yaw 或强加速度段，世界系角速度近似和电机约束都会成为误差来源。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786384" y="2157984"/>
            <ns1:ext cx="5230368" cy="1078992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4" name="MATH_LABEL"/>
          <ns0:cNvSpPr txBox="1"/>
          <ns0:nvPr/>
        </ns0:nvSpPr>
        <ns0:spPr>
          <ns1:xfrm>
            <ns1:off x="932688" y="2249424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模型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2322576"/>
            <ns1:ext cx="3675887" cy="330281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̈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mgz</ns1:t>
            </ns1:r>
            <ns1:r>
              <ns1:rPr sz="14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− fz</ns1:t>
            </ns1:r>
            <ns1:r>
              <ns1:rPr sz="14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B</ns1:t>
            </ns1:r>
          </ns1:p>
        </ns0:txBody>
      </ns0:sp>
      <ns0:sp>
        <ns0:nvSpPr>
          <ns0:cNvPr id="16" name="MATH_BODY"/>
          <ns0:cNvSpPr txBox="1"/>
          <ns0:nvPr/>
        </ns0:nvSpPr>
        <ns0:spPr>
          <ns1:xfrm>
            <ns1:off x="2103120" y="2706624"/>
            <ns1:ext cx="3675887" cy="330281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̇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J</ns1:t>
            </ns1:r>
            <ns1:r>
              <ns1:rPr sz="14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−1</ns1:t>
            </ns1:r>
            <ns1:r>
              <ns1:rPr sz="20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[−ω × Jω + M]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6428232" y="2066543"/>
            <ns1:ext cx="4663440" cy="144475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f 和 M 由固定非线性反馈控制器给出。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规划变量仍是参考轨迹，但评价必须通过闭环仿真反映实际跟踪能力。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这使轨迹优化从“几何平滑”转为“控制器可跟踪”。</ns1:t>
            </ns1:r>
          </ns1:p>
        </ns0:txBody>
      </ns0:sp>
      <ns0:cxnSp>
        <ns0:nvCxnSpPr>
          <ns0:cNvPr id="18" name="Connector 17"/>
          <ns0:cNvCxnSpPr/>
          <ns0:nvPr/>
        </ns0:nvCxnSpPr>
        <ns0:spPr>
          <ns1:xfrm>
            <ns1:off x="749808" y="3950208"/>
            <ns1:ext cx="10561320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9" name="Rounded Rectangle 18"/>
          <ns0:cNvSpPr/>
          <ns0:nvPr/>
        </ns0:nvSpPr>
        <ns0:spPr>
          <ns1:xfrm>
            <ns1:off x="822960" y="4343400"/>
            <ns1:ext cx="2011680" cy="7315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平坦输出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x, y, z, yaw</ns1:t>
            </ns1:r>
          </ns1:p>
        </ns0:txBody>
      </ns0:sp>
      <ns0:cxnSp>
        <ns0:nvCxnSpPr>
          <ns0:cNvPr id="20" name="Connector 19"/>
          <ns0:cNvCxnSpPr/>
          <ns0:nvPr/>
        </ns0:nvCxnSpPr>
        <ns0:spPr>
          <ns1:xfrm>
            <ns1:off x="2834640" y="4709160"/>
            <ns1:ext cx="411480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Rounded Rectangle 20"/>
          <ns0:cNvSpPr/>
          <ns0:nvPr/>
        </ns0:nvSpPr>
        <ns0:spPr>
          <ns1:xfrm>
            <ns1:off x="3493008" y="4343400"/>
            <ns1:ext cx="2011680" cy="73152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参考轨迹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polynomial coefficients</ns1:t>
            </ns1:r>
          </ns1:p>
        </ns0:txBody>
      </ns0:sp>
      <ns0:cxnSp>
        <ns0:nvCxnSpPr>
          <ns0:cNvPr id="22" name="Connector 21"/>
          <ns0:cNvCxnSpPr/>
          <ns0:nvPr/>
        </ns0:nvCxnSpPr>
        <ns0:spPr>
          <ns1:xfrm>
            <ns1:off x="5504688" y="4709160"/>
            <ns1:ext cx="411480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3" name="Rounded Rectangle 22"/>
          <ns0:cNvSpPr/>
          <ns0:nvPr/>
        </ns0:nvSpPr>
        <ns0:spPr>
          <ns1:xfrm>
            <ns1:off x="6163056" y="4343400"/>
            <ns1:ext cx="2011680" cy="7315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控制器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fixed nonlinear tracking</ns1:t>
            </ns1:r>
          </ns1:p>
        </ns0:txBody>
      </ns0:sp>
      <ns0:cxnSp>
        <ns0:nvCxnSpPr>
          <ns0:cNvPr id="24" name="Connector 23"/>
          <ns0:cNvCxnSpPr/>
          <ns0:nvPr/>
        </ns0:nvCxnSpPr>
        <ns0:spPr>
          <ns1:xfrm>
            <ns1:off x="8174736" y="4709160"/>
            <ns1:ext cx="411480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5" name="Rounded Rectangle 24"/>
          <ns0:cNvSpPr/>
          <ns0:nvPr/>
        </ns0:nvSpPr>
        <ns0:spPr>
          <ns1:xfrm>
            <ns1:off x="8833104" y="4343400"/>
            <ns1:ext cx="2011680" cy="73152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执行系统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motor saturation limits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822960" y="5413248"/>
            <ns1:ext cx="10469880" cy="49377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6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Quad‑LCD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的目标是保留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和差分平坦规划的工程结构，同时用数据学习出的 tracking penalty 修正参考轨迹。</ns1:t>
            </ns1: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01  背景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本文工作的核心链条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04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04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13232" y="1078992"/>
            <ns1:ext cx="4352544" cy="422452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本文不是重新学习一个飞控策略，而是在现有规划器外层加入控制器感知的代价项。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仿真中收集 low / medium / high cost 参考轨迹及其闭环跟踪误差。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用 MLP 从轨迹特征预测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跟踪惩罚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，优化时把惩罚写入目标函数。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输出仍是参考轨迹，因此可以接入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Crazyflie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上的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。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5321808" y="1078992"/>
            <ns1:ext cx="1773936" cy="73152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waypoints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随机四点任务</ns1:t>
            </ns1:r>
          </ns1:p>
        </ns0:txBody>
      </ns0:sp>
      <ns0:sp>
        <ns0:nvSpPr>
          <ns0:cNvPr id="14" name="Rounded Rectangle 13"/>
          <ns0:cNvSpPr/>
          <ns0:nvPr/>
        </ns0:nvSpPr>
        <ns0:spPr>
          <ns1:xfrm>
            <ns1:off x="7479792" y="1078992"/>
            <ns1:ext cx="1773936" cy="7315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minimum snap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初始多项式轨迹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9637776" y="1078992"/>
            <ns1:ext cx="1773936" cy="73152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RotorPy rollout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闭环跟踪误差</ns1:t>
            </ns1:r>
          </ns1:p>
        </ns0:txBody>
      </ns0:sp>
      <ns0:cxnSp>
        <ns0:nvCxnSpPr>
          <ns0:cNvPr id="16" name="Connector 15"/>
          <ns0:cNvCxnSpPr/>
          <ns0:nvPr/>
        </ns0:nvCxnSpPr>
        <ns0:spPr>
          <ns1:xfrm>
            <ns1:off x="7095744" y="1444752"/>
            <ns1:ext cx="31089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7" name="Connector 16"/>
          <ns0:cNvCxnSpPr/>
          <ns0:nvPr/>
        </ns0:nvCxnSpPr>
        <ns0:spPr>
          <ns1:xfrm>
            <ns1:off x="9253728" y="1444752"/>
            <ns1:ext cx="31089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8" name="Rounded Rectangle 17"/>
          <ns0:cNvSpPr/>
          <ns0:nvPr/>
        </ns0:nvSpPr>
        <ns0:spPr>
          <ns1:xfrm>
            <ns1:off x="6254496" y="2377439"/>
            <ns1:ext cx="1920240" cy="749808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training pairs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φ(c), y</ns1:t>
            </ns1:r>
          </ns1:p>
        </ns0:txBody>
      </ns0:sp>
      <ns0:sp>
        <ns0:nvSpPr>
          <ns0:cNvPr id="19" name="Rounded Rectangle 18"/>
          <ns0:cNvSpPr/>
          <ns0:nvPr/>
        </ns0:nvSpPr>
        <ns0:spPr>
          <ns1:xfrm>
            <ns1:off x="8595360" y="2377439"/>
            <ns1:ext cx="2121408" cy="749808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gθ(φ(c))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tracking penalty</ns1:t>
            </ns1:r>
          </ns1:p>
        </ns0:txBody>
      </ns0:sp>
      <ns0:cxnSp>
        <ns0:nvCxnSpPr>
          <ns0:cNvPr id="20" name="Connector 19"/>
          <ns0:cNvCxnSpPr/>
          <ns0:nvPr/>
        </ns0:nvCxnSpPr>
        <ns0:spPr>
          <ns1:xfrm>
            <ns1:off x="8174736" y="2752344"/>
            <ns1:ext cx="347472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1" name="Rounded Rectangle 20"/>
          <ns0:cNvSpPr/>
          <ns0:nvPr/>
        </ns0:nvSpPr>
        <ns0:spPr>
          <ns1:xfrm>
            <ns1:off x="7278624" y="3694176"/>
            <ns1:ext cx="2651760" cy="76809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trajectory optimization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Jtask + λgθ</ns1:t>
            </ns1:r>
          </ns1:p>
        </ns0:txBody>
      </ns0:sp>
      <ns0:sp>
        <ns0:nvSpPr>
          <ns0:cNvPr id="22" name="Rounded Rectangle 21"/>
          <ns0:cNvSpPr/>
          <ns0:nvPr/>
        </ns0:nvSpPr>
        <ns0:spPr>
          <ns1:xfrm>
            <ns1:off x="7040880" y="4882896"/>
            <ns1:ext cx="3035808" cy="786384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actuator-feasible reference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低饱和风险轨迹</ns1:t>
            </ns1:r>
          </ns1:p>
        </ns0:txBody>
      </ns0:sp>
      <ns0:cxnSp>
        <ns0:nvCxnSpPr>
          <ns0:cNvPr id="23" name="Connector 22"/>
          <ns0:cNvCxnSpPr/>
          <ns0:nvPr/>
        </ns0:nvCxnSpPr>
        <ns0:spPr>
          <ns1:xfrm flipH="1">
            <ns1:off x="9052560" y="3127248"/>
            <ns1:ext cx="603504" cy="548639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24" name="Connector 23"/>
          <ns0:cNvCxnSpPr/>
          <ns0:nvPr/>
        </ns0:nvCxnSpPr>
        <ns0:spPr>
          <ns1:xfrm>
            <ns1:off x="8595360" y="4462272"/>
            <ns1:ext cx="0" cy="384048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5" name="Rounded Rectangle 24"/>
          <ns0:cNvSpPr/>
          <ns0:nvPr/>
        </ns0:nvSpPr>
        <ns0:spPr>
          <ns1:xfrm>
            <ns1:off x="786384" y="5532120"/>
            <ns1:ext cx="10259568" cy="694944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6" name="MATH_LABEL"/>
          <ns0:cNvSpPr txBox="1"/>
          <ns0:nvPr/>
        </ns0:nvSpPr>
        <ns0:spPr>
          <ns1:xfrm>
            <ns1:off x="932688" y="5623559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目标</ns1:t>
            </ns1:r>
          </ns1:p>
        </ns0:txBody>
      </ns0:sp>
      <ns0:sp>
        <ns0:nvSpPr>
          <ns0:cNvPr id="27" name="MATH_BODY"/>
          <ns0:cNvSpPr txBox="1"/>
          <ns0:nvPr/>
        </ns0:nvSpPr>
        <ns0:spPr>
          <ns1:xfrm>
            <ns1:off x="2103120" y="5696712"/>
            <ns1:ext cx="8705088" cy="330281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21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</ns1:t>
            </ns1:r>
            <ns1:r>
              <ns1:rPr sz="152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</ns1:t>
            </ns1:r>
            <ns1:r>
              <ns1:rPr sz="21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 J</ns1:t>
            </ns1:r>
            <ns1:r>
              <ns1:rPr sz="152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task</ns1:t>
            </ns1:r>
            <ns1:r>
              <ns1:rPr sz="21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(c) + λ g</ns1:t>
            </ns1:r>
            <ns1:r>
              <ns1:rPr sz="152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21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(φ(c))</ns1:t>
            </ns1: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固定非线性控制器提供闭环基准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05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05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97280"/>
            <ns1:ext cx="10259568" cy="11887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88720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控制律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61872"/>
            <ns1:ext cx="8705088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 = (−k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x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x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− k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v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v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+ mgz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+ m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̈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 · Rz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700784"/>
            <ns1:ext cx="8705088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 = −k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− k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+ ω × Jω − J(ω̂R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− R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ω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̇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749808" y="2560320"/>
            <ns1:ext cx="5230368" cy="22402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控制器输入由期望位置、速度、加速度和期望姿态导数计算，不需要在规划阶段重新设计反馈律。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ex、ev、eR、eω 分别表示位置、速度、姿态和角速度误差。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当参考轨迹过激时，公式给出的 f 和 M 会对应到不可实现的电机转速。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6336792" y="2542032"/>
            <ns1:ext cx="4645152" cy="221284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LCD 的分解思路是把“任务轨迹”与“跟踪代价”分开建模。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任务轨迹由 waypoints 与 polynomial coefficients 表达。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跟踪代价由仿真数据估计，反映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对该轨迹的实际跟踪能力。</ns1:t>
            </ns1:r>
          </ns1:p>
        </ns0:txBody>
      </ns0:sp>
      <ns0:cxnSp>
        <ns0:nvCxnSpPr>
          <ns0:cNvPr id="18" name="Connector 17"/>
          <ns0:cNvCxnSpPr/>
          <ns0:nvPr/>
        </ns0:nvCxnSpPr>
        <ns0:spPr>
          <ns1:xfrm>
            <ns1:off x="786384" y="5074920"/>
            <ns1:ext cx="10241279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9" name="TextBox 18"/>
          <ns0:cNvSpPr txBox="1"/>
          <ns0:nvPr/>
        </ns0:nvSpPr>
        <ns0:spPr>
          <ns1:xfrm>
            <ns1:off x="822960" y="5358384"/>
            <ns1:ext cx="10149840" cy="67665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因此，优化器不直接调整控制器参数，而是在参考层寻找更容易被同一控制器执行的轨迹。</ns1:t>
            </ns1: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电机限幅通过跟踪代价进入规划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06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06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78992"/>
            <ns1:ext cx="10241280" cy="1170432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70432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饱和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43584"/>
            <ns1:ext cx="8686800" cy="369600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u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h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(f, M),   u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≤ u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≤ u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max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673351"/>
            <ns1:ext cx="8686800" cy="369600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J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(c) = ∫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0</ns1:t>
            </ns1:r>
            <ns1:r>
              <ns1:rPr sz="1382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(‖e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x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(t)‖</ns1:t>
            </ns1:r>
            <ns1:r>
              <ns1:rPr sz="1382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2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+ α‖e</ns1:t>
            </ns1:r>
            <ns1:r>
              <ns1:rPr sz="1382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ψ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(t)‖</ns1:t>
            </ns1:r>
            <ns1:r>
              <ns1:rPr sz="1382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2</ns1:t>
            </ns1:r>
            <ns1:r>
              <ns1:rPr sz="19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 dt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749808" y="2578608"/>
            <ns1:ext cx="4937760" cy="2542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论文没有把所有转速约束显式展开成复杂的解析可行域，而是用仿真 rollout 估计轨迹的闭环跟踪损失。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当轨迹导致 motor saturation，位置和 yaw 误差会在 rollout 中累积为高代价标签。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学习到的代价近似把不可执行区域“抬高”，让优化器更倾向于平滑可跟踪路径。</ns1:t>
            </ns1:r>
          </ns1:p>
        </ns0:txBody>
      </ns0:sp>
      <ns0:sp>
        <ns0:nvSpPr>
          <ns0:cNvPr id="17" name="Rounded Rectangle 16"/>
          <ns0:cNvSpPr/>
          <ns0:nvPr/>
        </ns0:nvSpPr>
        <ns0:spPr>
          <ns1:xfrm>
            <ns1:off x="6144768" y="2578608"/>
            <ns1:ext cx="4828032" cy="2487168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8" name="TextBox 17"/>
          <ns0:cNvSpPr txBox="1"/>
          <ns0:nvPr/>
        </ns0:nvSpPr>
        <ns0:spPr>
          <ns1:xfrm>
            <ns1:off x="6355080" y="2761488"/>
            <ns1:ext cx="182880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代价传播关系</ns1:t>
            </ns1:r>
          </ns1:p>
        </ns0:txBody>
      </ns0:sp>
      <ns0:sp>
        <ns0:nvSpPr>
          <ns0:cNvPr id="19" name="Rounded Rectangle 18"/>
          <ns0:cNvSpPr/>
          <ns0:nvPr/>
        </ns0:nvSpPr>
        <ns0:spPr>
          <ns1:xfrm>
            <ns1:off x="6510528" y="3182112"/>
            <ns1:ext cx="1975104" cy="67665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aggressive reference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高加速度/高角速度</ns1:t>
            </ns1:r>
          </ns1:p>
        </ns0:txBody>
      </ns0:sp>
      <ns0:sp>
        <ns0:nvSpPr>
          <ns0:cNvPr id="20" name="Rounded Rectangle 19"/>
          <ns0:cNvSpPr/>
          <ns0:nvPr/>
        </ns0:nvSpPr>
        <ns0:spPr>
          <ns1:xfrm>
            <ns1:off x="8851392" y="3182112"/>
            <ns1:ext cx="1874519" cy="67665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motor saturation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推力/力矩不可实现</ns1:t>
            </ns1:r>
          </ns1:p>
        </ns0:txBody>
      </ns0:sp>
      <ns0:sp>
        <ns0:nvSpPr>
          <ns0:cNvPr id="21" name="Rounded Rectangle 20"/>
          <ns0:cNvSpPr/>
          <ns0:nvPr/>
        </ns0:nvSpPr>
        <ns0:spPr>
          <ns1:xfrm>
            <ns1:off x="7680960" y="4133087"/>
            <ns1:ext cx="2029968" cy="67665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tracking error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位置/yaw 偏差增大</ns1:t>
            </ns1:r>
          </ns1:p>
        </ns0:txBody>
      </ns0:sp>
      <ns0:cxnSp>
        <ns0:nvCxnSpPr>
          <ns0:cNvPr id="22" name="Connector 21"/>
          <ns0:cNvCxnSpPr/>
          <ns0:nvPr/>
        </ns0:nvCxnSpPr>
        <ns0:spPr>
          <ns1:xfrm>
            <ns1:off x="8485632" y="3520440"/>
            <ns1:ext cx="31089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23" name="Connector 22"/>
          <ns0:cNvCxnSpPr/>
          <ns0:nvPr/>
        </ns0:nvCxnSpPr>
        <ns0:spPr>
          <ns1:xfrm flipH="1">
            <ns1:off x="8924544" y="3858768"/>
            <ns1:ext cx="841248" cy="256032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24" name="Connector 23"/>
          <ns0:cNvCxnSpPr/>
          <ns0:nvPr/>
        </ns0:nvCxnSpPr>
        <ns0:spPr>
          <ns1:xfrm flipH="1" flipV="1">
            <ns1:off x="7479792" y="3867912"/>
            <ns1:ext cx="548639" cy="22860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5" name="TextBox 24"/>
          <ns0:cNvSpPr txBox="1"/>
          <ns0:nvPr/>
        </ns0:nvSpPr>
        <ns0:spPr>
          <ns1:xfrm>
            <ns1:off x="822960" y="5440680"/>
            <ns1:ext cx="10058400" cy="5029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该处理保留了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接口，适合在已有飞控栈上增加一个规划层修正模块。</ns1:t>
            </ns1: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多项式轨迹是优化变量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07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07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78992"/>
            <ns1:ext cx="10241280" cy="113385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70432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轨迹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43584"/>
            <ns1:ext cx="8686800" cy="35387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 = Σ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k=0</ns1:t>
            </ns1:r>
            <ns1:r>
              <ns1:rPr sz="13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c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3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  ψ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 = Σ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k=0</ns1:t>
            </ns1:r>
            <ns1:r>
              <ns1:rPr sz="13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a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368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655063"/>
            <ns1:ext cx="8686800" cy="35387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 = [c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0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c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1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... , c</ns1:t>
            </ns1:r>
            <ns1:r>
              <ns1:rPr sz="1368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K</ns1:t>
            </ns1:r>
            <ns1:r>
              <ns1:rPr sz="19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],   φ(c) = trajectory features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749808" y="2523744"/>
            <ns1:ext cx="4983480" cy="290779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四个平坦输出 x、y、z、yaw 由分段多项式表达，系数 c 描述参考轨迹的形状。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minimum snap 提供可微且平滑的初始参考，但不保证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在电机限幅下能完整跟踪。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Quad‑LCD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用 c 的特征 φ(c) 输入 MLP，把闭环可跟踪性转成可优化的数值代价。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优化仍在轨迹层完成，输出是常规飞控可以接收的 reference trajectory。</ns1:t>
            </ns1:r>
          </ns1:p>
        </ns0:txBody>
      </ns0:sp>
      <ns0:sp>
        <ns0:nvSpPr>
          <ns0:cNvPr id="17" name="Rectangle 16"/>
          <ns0:cNvSpPr/>
          <ns0:nvPr/>
        </ns0:nvSpPr>
        <ns0:spPr>
          <ns1:xfrm>
            <ns1:off x="6121907" y="2470834"/>
            <ns1:ext cx="4892040" cy="2931315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8" name="Picture 17" descr="fig2_trajectory_cost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6144768" y="2493694"/>
            <ns1:ext cx="4846320" cy="2885595"/>
          </ns1:xfrm>
          <ns1:prstGeom prst="rect">
            <ns1:avLst/>
          </ns1:prstGeom>
        </ns0:spPr>
      </ns0:pic>
      <ns0:sp>
        <ns0:nvSpPr>
          <ns0:cNvPr id="19" name="TextBox 18"/>
          <ns0:cNvSpPr txBox="1"/>
          <ns0:nvPr/>
        </ns0:nvSpPr>
        <ns0:spPr>
          <ns1:xfrm>
            <ns1:off x="6236208" y="5577840"/>
            <ns1:ext cx="438912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低/中/高跟踪代价轨迹样本</ns1:t>
            </ns1: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跟踪惩罚由仿真数据监督学习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08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08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78992"/>
            <ns1:ext cx="10241280" cy="11887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70432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学习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43584"/>
            <ns1:ext cx="8686800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 = {(φ(c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), y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)}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i=1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N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  y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J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682495"/>
            <ns1:ext cx="8686800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*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arg min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1/N Σ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i=1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N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(g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(φ(c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)) − y</ns1:t>
            </ns1:r>
            <ns1:r>
              <ns1:rPr sz="1353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i</ns1:t>
            </ns1:r>
            <ns1:r>
              <ns1:rPr sz="18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</ns1:t>
            </ns1:r>
            <ns1:r>
              <ns1:rPr sz="1353" b="0" i="0" baseline="32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2</ns1:t>
            </ns1:r>
          </ns1:p>
        </ns0:txBody>
      </ns0:sp>
      <ns0:graphicFrame>
        <ns0:nvGraphicFramePr>
          <ns0:cNvPr id="16" name="Table 15"/>
          <ns0:cNvGraphicFramePr>
            <ns1:graphicFrameLocks noGrp="1"/>
          </ns0:cNvGraphicFramePr>
          <ns0:nvPr/>
        </ns0:nvGraphicFramePr>
        <ns0:xfrm>
          <ns1:off x="786384" y="2505456"/>
          <ns1:ext cx="5623560" cy="2505456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1417320"/>
                <ns1:gridCol w="1920240"/>
                <ns1:gridCol w="2286000"/>
              </ns1:tblGrid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数据环节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论文设置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作用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rollout 数量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200,000 trajectories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覆盖不同跟踪难度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任务空间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10 × 10 × 10 m³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随机四点 waypoint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速度设置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vavg = 2 m/s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形成较强机动需求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网络结构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MLP: 100 / 100 / 20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预测 tracking penalty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  <ns1:tr h="41757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划分方式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80% train / 20% validation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2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检查泛化误差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17" name="TextBox 16"/>
          <ns0:cNvSpPr txBox="1"/>
          <ns0:nvPr/>
        </ns0:nvSpPr>
        <ns0:spPr>
          <ns1:xfrm>
            <ns1:off x="6720840" y="2596896"/>
            <ns1:ext cx="4297680" cy="235915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标签不是人工标注，而是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在 RotorPy 中实际跟踪参考轨迹后的累计误差。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低代价轨迹保留原有平滑性，高代价轨迹对应控制器难以跟踪或饱和风险高的片段。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训练好的 gθ 在优化阶段替代高成本闭环仿真，提高规划求解效率。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841248" y="5440680"/>
            <ns1:ext cx="10104120" cy="49377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这个数据构造把“飞得稳不稳”转化为轨迹系数上的监督学习问题。</ns1:t>
            </ns1: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优化目标把任务代价与可跟踪性合并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09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09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86384" y="1060704"/>
            <ns1:ext cx="10241280" cy="11887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MATH_LABEL"/>
          <ns0:cNvSpPr txBox="1"/>
          <ns0:nvPr/>
        </ns0:nvSpPr>
        <ns0:spPr>
          <ns1:xfrm>
            <ns1:off x="932688" y="1152144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优化</ns1:t>
            </ns1:r>
          </ns1:p>
        </ns0:txBody>
      </ns0:sp>
      <ns0:sp>
        <ns0:nvSpPr>
          <ns0:cNvPr id="14" name="MATH_BODY"/>
          <ns0:cNvSpPr txBox="1"/>
          <ns0:nvPr/>
        </ns0:nvSpPr>
        <ns0:spPr>
          <ns1:xfrm>
            <ns1:off x="2103120" y="1225295"/>
            <ns1:ext cx="8686800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c,T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 J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snap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(c,T) + βJ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time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 + λg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(φ(c))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2103120" y="1664207"/>
            <ns1:ext cx="8686800" cy="377464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s.t.  r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j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 = w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j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  continuity constraints,   T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min</ns1:t>
            </ns1:r>
            <ns1:r>
              <ns1:rPr sz="186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≤ T ≤ T</ns1:t>
            </ns1:r>
            <ns1:r>
              <ns1:rPr sz="1339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max</ns1:t>
            </ns1:r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749808" y="2542032"/>
            <ns1:ext cx="4974336" cy="265176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J_snap 保持 minimum snap 轨迹的平滑性，J_time 控制时间分配，gθ 用于抑制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难以跟踪的轨迹。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λ 增大时，优化器更强地避开高 tracking penalty 区域。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约束仍包含 waypoint 到达和分段连续性，因此输出满足原任务结构。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与直接训练策略相比，方法只改变参考轨迹，不改变底层控制接口。</ns1:t>
            </ns1:r>
          </ns1:p>
        </ns0:txBody>
      </ns0:sp>
      <ns0:sp>
        <ns0:nvSpPr>
          <ns0:cNvPr id="17" name="Rounded Rectangle 16"/>
          <ns0:cNvSpPr/>
          <ns0:nvPr/>
        </ns0:nvSpPr>
        <ns0:spPr>
          <ns1:xfrm>
            <ns1:off x="6144768" y="2560320"/>
            <ns1:ext cx="4846320" cy="2615184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8" name="TextBox 17"/>
          <ns0:cNvSpPr txBox="1"/>
          <ns0:nvPr/>
        </ns0:nvSpPr>
        <ns0:spPr>
          <ns1:xfrm>
            <ns1:off x="6382512" y="2761488"/>
            <ns1:ext cx="237744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优化后的行为变化</ns1:t>
            </ns1:r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6446520" y="3127248"/>
            <ns1:ext cx="14630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6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轨迹形状</ns1:t>
            </ns1:r>
          </ns1:p>
        </ns0:txBody>
      </ns0:sp>
      <ns0:sp>
        <ns0:nvSpPr>
          <ns0:cNvPr id="20" name="TextBox 19"/>
          <ns0:cNvSpPr txBox="1"/>
          <ns0:nvPr/>
        </ns0:nvSpPr>
        <ns0:spPr>
          <ns1:xfrm>
            <ns1:off x="7882127" y="3127248"/>
            <ns1:ext cx="278892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减少急弯和过强姿态变化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6446520" y="3557015"/>
            <ns1:ext cx="14630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6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速度分配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7882127" y="3557015"/>
            <ns1:ext cx="278892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在高风险段放缓参考变化</ns1:t>
            </ns1:r>
          </ns1:p>
        </ns0:txBody>
      </ns0:sp>
      <ns0:sp>
        <ns0:nvSpPr>
          <ns0:cNvPr id="23" name="TextBox 22"/>
          <ns0:cNvSpPr txBox="1"/>
          <ns0:nvPr/>
        </ns0:nvSpPr>
        <ns0:spPr>
          <ns1:xfrm>
            <ns1:off x="6446520" y="3986783"/>
            <ns1:ext cx="14630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6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闭环误差</ns1:t>
            </ns1:r>
          </ns1:p>
        </ns0:txBody>
      </ns0:sp>
      <ns0:sp>
        <ns0:nvSpPr>
          <ns0:cNvPr id="24" name="TextBox 23"/>
          <ns0:cNvSpPr txBox="1"/>
          <ns0:nvPr/>
        </ns0:nvSpPr>
        <ns0:spPr>
          <ns1:xfrm>
            <ns1:off x="7882127" y="3986783"/>
            <ns1:ext cx="278892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降低位置和 yaw 偏差累积</ns1:t>
            </ns1:r>
          </ns1:p>
        </ns0:txBody>
      </ns0:sp>
      <ns0:sp>
        <ns0:nvSpPr>
          <ns0:cNvPr id="25" name="TextBox 24"/>
          <ns0:cNvSpPr txBox="1"/>
          <ns0:nvPr/>
        </ns0:nvSpPr>
        <ns0:spPr>
          <ns1:xfrm>
            <ns1:off x="6446520" y="4416551"/>
            <ns1:ext cx="14630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6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执行约束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7882127" y="4416551"/>
            <ns1:ext cx="278892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降低电机饱和触发概率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841248" y="5532120"/>
            <ns1:ext cx="10040112" cy="4297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方法的关键在于：饱和不是作为事后失败现象出现，而是在规划目标中提前形成惩罚。</ns1:t>
            </ns1: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02  方法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LCD 分解让规划器复用固定控制器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10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10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68096" y="1115568"/>
            <ns1:ext cx="10222992" cy="4114800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3" name="TextBox 12"/>
          <ns0:cNvSpPr txBox="1"/>
          <ns0:nvPr/>
        </ns0:nvSpPr>
        <ns0:spPr>
          <ns1:xfrm>
            <ns1:off x="987552" y="1325880"/>
            <ns1:ext cx="365760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Layered Control Decomposition</ns1:t>
            </ns1:r>
          </ns1:p>
        </ns0:txBody>
      </ns0:sp>
      <ns0:sp>
        <ns0:nvSpPr>
          <ns0:cNvPr id="14" name="Rounded Rectangle 13"/>
          <ns0:cNvSpPr/>
          <ns0:nvPr/>
        </ns0:nvSpPr>
        <ns0:spPr>
          <ns1:xfrm>
            <ns1:off x="1024128" y="1828800"/>
            <ns1:ext cx="1938528" cy="76809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任务层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waypoints / timing</ns1:t>
            </ns1:r>
          </ns1:p>
        </ns0:txBody>
      </ns0:sp>
      <ns0:cxnSp>
        <ns0:nvCxnSpPr>
          <ns0:cNvPr id="15" name="Connector 14"/>
          <ns0:cNvCxnSpPr/>
          <ns0:nvPr/>
        </ns0:nvCxnSpPr>
        <ns0:spPr>
          <ns1:xfrm>
            <ns1:off x="2962656" y="2212848"/>
            <ns1:ext cx="49377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Rounded Rectangle 15"/>
          <ns0:cNvSpPr/>
          <ns0:nvPr/>
        </ns0:nvSpPr>
        <ns0:spPr>
          <ns1:xfrm>
            <ns1:off x="3547872" y="1828800"/>
            <ns1:ext cx="1938528" cy="76809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轨迹层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polynomial coefficients</ns1:t>
            </ns1:r>
          </ns1:p>
        </ns0:txBody>
      </ns0:sp>
      <ns0:cxnSp>
        <ns0:nvCxnSpPr>
          <ns0:cNvPr id="17" name="Connector 16"/>
          <ns0:cNvCxnSpPr/>
          <ns0:nvPr/>
        </ns0:nvCxnSpPr>
        <ns0:spPr>
          <ns1:xfrm>
            <ns1:off x="5486400" y="2212848"/>
            <ns1:ext cx="49377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8" name="Rounded Rectangle 17"/>
          <ns0:cNvSpPr/>
          <ns0:nvPr/>
        </ns0:nvSpPr>
        <ns0:spPr>
          <ns1:xfrm>
            <ns1:off x="6071616" y="1828800"/>
            <ns1:ext cx="1938528" cy="76809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代价层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learned tracking penalty</ns1:t>
            </ns1:r>
          </ns1:p>
        </ns0:txBody>
      </ns0:sp>
      <ns0:cxnSp>
        <ns0:nvCxnSpPr>
          <ns0:cNvPr id="19" name="Connector 18"/>
          <ns0:cNvCxnSpPr/>
          <ns0:nvPr/>
        </ns0:nvCxnSpPr>
        <ns0:spPr>
          <ns1:xfrm>
            <ns1:off x="8010144" y="2212848"/>
            <ns1:ext cx="493776" cy="0"/>
          </ns1:xfrm>
          <ns1:prstGeom prst="line">
            <ns1:avLst/>
          </ns1:prstGeom>
          <ns1:ln w="19050">
            <ns1:solidFill>
              <ns1:srgbClr val="00707C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0" name="Rounded Rectangle 19"/>
          <ns0:cNvSpPr/>
          <ns0:nvPr/>
        </ns0:nvSpPr>
        <ns0:spPr>
          <ns1:xfrm>
            <ns1:off x="8595360" y="1828800"/>
            <ns1:ext cx="1938528" cy="76809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执行层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fixed controller + plant</ns1:t>
            </ns1:r>
          </ns1:p>
        </ns0:txBody>
      </ns0:sp>
      <ns0:sp>
        <ns0:nvSpPr>
          <ns0:cNvPr id="21" name="Rounded Rectangle 20"/>
          <ns0:cNvSpPr/>
          <ns0:nvPr/>
        </ns0:nvSpPr>
        <ns0:spPr>
          <ns1:xfrm>
            <ns1:off x="1042415" y="3054096"/>
            <ns1:ext cx="9564624" cy="694944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2" name="MATH_LABEL"/>
          <ns0:cNvSpPr txBox="1"/>
          <ns0:nvPr/>
        </ns0:nvSpPr>
        <ns0:spPr>
          <ns1:xfrm>
            <ns1:off x="1188719" y="3145536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闭环</ns1:t>
            </ns1:r>
          </ns1:p>
        </ns0:txBody>
      </ns0:sp>
      <ns0:sp>
        <ns0:nvSpPr>
          <ns0:cNvPr id="23" name="MATH_BODY"/>
          <ns0:cNvSpPr txBox="1"/>
          <ns0:nvPr/>
        </ns0:nvSpPr>
        <ns0:spPr>
          <ns1:xfrm>
            <ns1:off x="2359152" y="3218688"/>
            <ns1:ext cx="8010144" cy="330281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t+1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= F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cl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(e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, r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(t), K),   penalty = Σ ℓ(e</ns1:t>
            </ns1:r>
            <ns1:r>
              <ns1:rPr sz="1346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</ns1:t>
            </ns1:r>
            <ns1:r>
              <ns1:rPr sz="187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)</ns1:t>
            </ns1:r>
          </ns1:p>
        </ns0:txBody>
      </ns0:sp>
      <ns0:sp>
        <ns0:nvSpPr>
          <ns0:cNvPr id="24" name="TextBox 23"/>
          <ns0:cNvSpPr txBox="1"/>
          <ns0:nvPr/>
        </ns0:nvSpPr>
        <ns0:spPr>
          <ns1:xfrm>
            <ns1:off x="987552" y="4224528"/>
            <ns1:ext cx="9710928" cy="6583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任务层保持 waypoint 约束；轨迹层搜索多项式系数；代价层把仿真中观察到的闭环跟踪能力反馈给优化器。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该结构减少了对新控制器或新策略的依赖，适合用于已有四旋翼控制栈。</ns1:t>
            </ns1:r>
          </ns1:p>
        </ns0:txBody>
      </ns0:sp>
      <ns0:sp>
        <ns0:nvSpPr>
          <ns0:cNvPr id="25" name="TextBox 24"/>
          <ns0:cNvSpPr txBox="1"/>
          <ns0:nvPr/>
        </ns0:nvSpPr>
        <ns0:spPr>
          <ns1:xfrm>
            <ns1:off x="841248" y="5559552"/>
            <ns1:ext cx="1005840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LCD 将执行可行性转化为可学习、可优化的中间代价，使规划阶段能够提前避开闭环跟踪困难区域。</ns1:t>
            </ns1:r>
          </ns1:p>
        </ns0:txBody>
      </ns0:sp>
    </ns0:spTree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仿真设置覆盖不同阻力和基线方法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11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11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60704"/>
            <ns1:ext cx="4709160" cy="219456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实验在 RotorPy 中构造 waypoint-following 任务，并引入不同 parasitic drag coefficients。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每个网络在对应阻力配置下训练，再在 100 个 waypoint-following tasks 上评估。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深度强化学习基线采用 DATT 风格自定义策略，并使用 curriculum learning 训练。</ns1:t>
            </ns1:r>
          </ns1:p>
        </ns0:txBody>
      </ns0:sp>
      <ns0:graphicFrame>
        <ns0:nvGraphicFramePr>
          <ns0:cNvPr id="13" name="Table 12"/>
          <ns0:cNvGraphicFramePr>
            <ns1:graphicFrameLocks noGrp="1"/>
          </ns0:cNvGraphicFramePr>
          <ns0:nvPr/>
        </ns0:nvGraphicFramePr>
        <ns0:xfrm>
          <ns1:off x="5779008" y="1115568"/>
          <ns1:ext cx="5230368" cy="1965960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960120"/>
                <ns1:gridCol w="2487168"/>
                <ns1:gridCol w="1783080"/>
              </ns1:tblGrid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方法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控制/规划方式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比较意义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</ns1:tr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MS-GC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minimum snap + geometric controller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固定控制器基线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MS-GCD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minimum snap + drag compensation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补偿气动阻力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Ours-GC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Quad-LCD + geometric controller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本文方法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39319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Deep RL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end-to-end learned policy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16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策略学习基线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</ns1:tbl>
          </ns1:graphicData>
        </ns1:graphic>
      </ns0:graphicFrame>
      <ns0:cxnSp>
        <ns0:nvCxnSpPr>
          <ns0:cNvPr id="14" name="Connector 13"/>
          <ns0:cNvCxnSpPr/>
          <ns0:nvPr/>
        </ns0:nvCxnSpPr>
        <ns0:spPr>
          <ns1:xfrm>
            <ns1:off x="786384" y="3566160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5" name="Rounded Rectangle 14"/>
          <ns0:cNvSpPr/>
          <ns0:nvPr/>
        </ns0:nvSpPr>
        <ns0:spPr>
          <ns1:xfrm>
            <ns1:off x="841248" y="3950208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6" name="TextBox 15"/>
          <ns0:cNvSpPr txBox="1"/>
          <ns0:nvPr/>
        </ns0:nvSpPr>
        <ns0:spPr>
          <ns1:xfrm>
            <ns1:off x="932688" y="4041648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5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932688" y="4361688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drag settings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932688" y="4581144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scaled coefficients</ns1:t>
            </ns1:r>
          </ns1:p>
        </ns0:txBody>
      </ns0:sp>
      <ns0:sp>
        <ns0:nvSpPr>
          <ns0:cNvPr id="19" name="Rounded Rectangle 18"/>
          <ns0:cNvSpPr/>
          <ns0:nvPr/>
        </ns0:nvSpPr>
        <ns0:spPr>
          <ns1:xfrm>
            <ns1:off x="4209288" y="3950208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0" name="TextBox 19"/>
          <ns0:cNvSpPr txBox="1"/>
          <ns0:nvPr/>
        </ns0:nvSpPr>
        <ns0:spPr>
          <ns1:xfrm>
            <ns1:off x="4300728" y="4041648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100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4300728" y="4361688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evaluation tasks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4300728" y="4581144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per configuration</ns1:t>
            </ns1:r>
          </ns1:p>
        </ns0:txBody>
      </ns0:sp>
      <ns0:sp>
        <ns0:nvSpPr>
          <ns0:cNvPr id="23" name="Rounded Rectangle 22"/>
          <ns0:cNvSpPr/>
          <ns0:nvPr/>
        </ns0:nvSpPr>
        <ns0:spPr>
          <ns1:xfrm>
            <ns1:off x="7577328" y="3950208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4" name="TextBox 23"/>
          <ns0:cNvSpPr txBox="1"/>
          <ns0:nvPr/>
        </ns0:nvSpPr>
        <ns0:spPr>
          <ns1:xfrm>
            <ns1:off x="7668768" y="4041648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10M</ns1:t>
            </ns1:r>
          </ns1:p>
        </ns0:txBody>
      </ns0:sp>
      <ns0:sp>
        <ns0:nvSpPr>
          <ns0:cNvPr id="25" name="TextBox 24"/>
          <ns0:cNvSpPr txBox="1"/>
          <ns0:nvPr/>
        </ns0:nvSpPr>
        <ns0:spPr>
          <ns1:xfrm>
            <ns1:off x="7668768" y="4361688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RL steps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7668768" y="4581144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curriculum training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841248" y="5212080"/>
            <ns1:ext cx="10012680" cy="6949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3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评估不是只看轨迹是否平滑，而是看不同方法在同一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和任务集合下是否产生 crash。</ns1:t>
            </ns1:r>
          </ns1:p>
          <ns1:p>
            <ns1:pPr algn="l" marL="390000" indent="-120000">
              <ns1:lnSpc>
                <ns1:spcPct val="93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这与本文问题设定一致：轨迹规划要服务于执行层的闭环可行性。</ns1:t>
            </ns1:r>
          </ns1:p>
        </ns0:txBody>
      </ns0:sp>
    </ns0:spTree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低/中/高代价轨迹体现学习目标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12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12</ns1:t>
            </ns1:r>
          </ns1:p>
        </ns0:txBody>
      </ns0:sp>
      <ns0:sp>
        <ns0:nvSpPr>
          <ns0:cNvPr id="12" name="Rectangle 11"/>
          <ns0:cNvSpPr/>
          <ns0:nvPr/>
        </ns0:nvSpPr>
        <ns0:spPr>
          <ns1:xfrm>
            <ns1:off x="781812" y="1027862"/>
            <ns1:ext cx="5669280" cy="3394099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3" name="Picture 12" descr="fig2_trajectory_cost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04672" y="1050722"/>
            <ns1:ext cx="5623560" cy="3348379"/>
          </ns1:xfrm>
          <ns1:prstGeom prst="rect">
            <ns1:avLst/>
          </ns1:prstGeom>
        </ns0:spPr>
      </ns0:pic>
      <ns0:sp>
        <ns0:nvSpPr>
          <ns0:cNvPr id="14" name="TextBox 13"/>
          <ns0:cNvSpPr txBox="1"/>
          <ns0:nvPr/>
        </ns0:nvSpPr>
        <ns0:spPr>
          <ns1:xfrm>
            <ns1:off x="6748272" y="1078992"/>
            <ns1:ext cx="4251960" cy="290779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图中绿色为 executed trajectory，黑色为 reference trajectory，红点为 waypoints。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低代价样本中执行轨迹与参考轨迹贴合，说明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可稳定跟踪。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中、高代价样本出现更明显偏差，通常伴随更激进的空间曲率或姿态变化。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这些样本共同定义 gθ 的监督目标，使网络识别“看似平滑但难以跟踪”的轨迹。</ns1:t>
            </ns1:r>
          </ns1:p>
        </ns0:txBody>
      </ns0:sp>
      <ns0:cxnSp>
        <ns0:nvCxnSpPr>
          <ns0:cNvPr id="15" name="Connector 14"/>
          <ns0:cNvCxnSpPr/>
          <ns0:nvPr/>
        </ns0:nvCxnSpPr>
        <ns0:spPr>
          <ns1:xfrm>
            <ns1:off x="786384" y="4736592"/>
            <ns1:ext cx="10241279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Rounded Rectangle 15"/>
          <ns0:cNvSpPr/>
          <ns0:nvPr/>
        </ns0:nvSpPr>
        <ns0:spPr>
          <ns1:xfrm>
            <ns1:off x="914400" y="4992624"/>
            <ns1:ext cx="9966960" cy="1188720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7" name="MATH_LABEL"/>
          <ns0:cNvSpPr txBox="1"/>
          <ns0:nvPr/>
        </ns0:nvSpPr>
        <ns0:spPr>
          <ns1:xfrm>
            <ns1:off x="1060704" y="5084064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标签</ns1:t>
            </ns1:r>
          </ns1:p>
        </ns0:txBody>
      </ns0:sp>
      <ns0:sp>
        <ns0:nvSpPr>
          <ns0:cNvPr id="18" name="MATH_BODY"/>
          <ns0:cNvSpPr txBox="1"/>
          <ns0:nvPr/>
        </ns0:nvSpPr>
        <ns0:spPr>
          <ns1:xfrm>
            <ns1:off x="2231136" y="5157216"/>
            <ns1:ext cx="8412480" cy="25164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low / medium / high cost</ns1:t>
            </ns1:r>
          </ns1:p>
        </ns0:txBody>
      </ns0:sp>
      <ns0:sp>
        <ns0:nvSpPr>
          <ns0:cNvPr id="19" name="MATH_BODY"/>
          <ns0:cNvSpPr txBox="1"/>
          <ns0:nvPr/>
        </ns0:nvSpPr>
        <ns0:spPr>
          <ns1:xfrm>
            <ns1:off x="2231136" y="5449824"/>
            <ns1:ext cx="8412480" cy="25164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⇔  cumulative tracking error</ns1:t>
            </ns1:r>
          </ns1:p>
        </ns0:txBody>
      </ns0:sp>
      <ns0:sp>
        <ns0:nvSpPr>
          <ns0:cNvPr id="20" name="MATH_BODY"/>
          <ns0:cNvSpPr txBox="1"/>
          <ns0:nvPr/>
        </ns0:nvSpPr>
        <ns0:spPr>
          <ns1:xfrm>
            <ns1:off x="2231136" y="5742431"/>
            <ns1:ext cx="8412480" cy="251642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0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from closed-loop rollout</ns1:t>
            </ns1:r>
          </ns1:p>
        </ns0:txBody>
      </ns0:sp>
    </ns0:spTree>
  </ns0:cSld>
  <ns0:clrMapOvr>
    <ns1:masterClrMapping/>
  </ns0:clrMapOvr>
</ns0:sld>
</file>

<file path=ppt/slides/slide13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Crash-rate 对比验证执行可行性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13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13</ns1:t>
            </ns1:r>
          </ns1:p>
        </ns0:txBody>
      </ns0:sp>
      <ns0:sp>
        <ns0:nvSpPr>
          <ns0:cNvPr id="12" name="Rectangle 11"/>
          <ns0:cNvSpPr/>
          <ns0:nvPr/>
        </ns0:nvSpPr>
        <ns0:spPr>
          <ns1:xfrm>
            <ns1:off x="818388" y="1166225"/>
            <ns1:ext cx="5330952" cy="3428268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3" name="Picture 12" descr="fig4_crash_rate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41248" y="1189085"/>
            <ns1:ext cx="5285232" cy="3382548"/>
          </ns1:xfrm>
          <ns1:prstGeom prst="rect">
            <ns1:avLst/>
          </ns1:prstGeom>
        </ns0:spPr>
      </ns0:pic>
      <ns0:sp>
        <ns0:nvSpPr>
          <ns0:cNvPr id="14" name="TextBox 13"/>
          <ns0:cNvSpPr txBox="1"/>
          <ns0:nvPr/>
        </ns0:nvSpPr>
        <ns0:spPr>
          <ns1:xfrm>
            <ns1:off x="6565392" y="1133856"/>
            <ns1:ext cx="4462272" cy="290779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Ours‑GC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的 crash rate 为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6.0%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，明显低于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MS‑GC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、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MS‑GCD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和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Deep RL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基线。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MS‑GCD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引入 drag compensation 后仍达到 54.0%，说明只补偿气动阻力不能解决过激参考轨迹。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Deep RL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policy 在该设置下为 47.0%，没有超过控制器感知规划方案。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结果支持本文主张：在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前加入可跟踪性代价，比单纯替换策略更稳健。</ns1:t>
            </ns1:r>
          </ns1:p>
        </ns0:txBody>
      </ns0:sp>
      <ns0:cxnSp>
        <ns0:nvCxnSpPr>
          <ns0:cNvPr id="15" name="Connector 14"/>
          <ns0:cNvCxnSpPr/>
          <ns0:nvPr/>
        </ns0:nvCxnSpPr>
        <ns0:spPr>
          <ns1:xfrm>
            <ns1:off x="786384" y="4773168"/>
            <ns1:ext cx="10241279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Rounded Rectangle 15"/>
          <ns0:cNvSpPr/>
          <ns0:nvPr/>
        </ns0:nvSpPr>
        <ns0:spPr>
          <ns1:xfrm>
            <ns1:off x="841248" y="515721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7" name="TextBox 16"/>
          <ns0:cNvSpPr txBox="1"/>
          <ns0:nvPr/>
        </ns0:nvSpPr>
        <ns0:spPr>
          <ns1:xfrm>
            <ns1:off x="932688" y="5248655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6.0%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932688" y="556869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Ours-GC</ns1:t>
            </ns1:r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932688" y="5788152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lowest crash rate</ns1:t>
            </ns1:r>
          </ns1:p>
        </ns0:txBody>
      </ns0:sp>
      <ns0:sp>
        <ns0:nvSpPr>
          <ns0:cNvPr id="20" name="Rounded Rectangle 19"/>
          <ns0:cNvSpPr/>
          <ns0:nvPr/>
        </ns0:nvSpPr>
        <ns0:spPr>
          <ns1:xfrm>
            <ns1:off x="4209288" y="515721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1" name="TextBox 20"/>
          <ns0:cNvSpPr txBox="1"/>
          <ns0:nvPr/>
        </ns0:nvSpPr>
        <ns0:spPr>
          <ns1:xfrm>
            <ns1:off x="4300728" y="5248655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41.0%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4300728" y="556869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MS-GC</ns1:t>
            </ns1:r>
          </ns1:p>
        </ns0:txBody>
      </ns0:sp>
      <ns0:sp>
        <ns0:nvSpPr>
          <ns0:cNvPr id="23" name="TextBox 22"/>
          <ns0:cNvSpPr txBox="1"/>
          <ns0:nvPr/>
        </ns0:nvSpPr>
        <ns0:spPr>
          <ns1:xfrm>
            <ns1:off x="4300728" y="5788152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minimum snap baseline</ns1:t>
            </ns1:r>
          </ns1:p>
        </ns0:txBody>
      </ns0:sp>
      <ns0:sp>
        <ns0:nvSpPr>
          <ns0:cNvPr id="24" name="Rounded Rectangle 23"/>
          <ns0:cNvSpPr/>
          <ns0:nvPr/>
        </ns0:nvSpPr>
        <ns0:spPr>
          <ns1:xfrm>
            <ns1:off x="7577328" y="515721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5" name="TextBox 24"/>
          <ns0:cNvSpPr txBox="1"/>
          <ns0:nvPr/>
        </ns0:nvSpPr>
        <ns0:spPr>
          <ns1:xfrm>
            <ns1:off x="7668768" y="5248655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54.0%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7668768" y="556869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MS-GCD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7668768" y="5788152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drag compensation</ns1:t>
            </ns1:r>
          </ns1:p>
        </ns0:txBody>
      </ns0:sp>
    </ns0:spTree>
  </ns0:cSld>
  <ns0:clrMapOvr>
    <ns1:masterClrMapping/>
  </ns0:clrMapOvr>
</ns0:sld>
</file>

<file path=ppt/slides/slide1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轨迹跟踪曲线显示偏差来源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14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14</ns1:t>
            </ns1:r>
          </ns1:p>
        </ns0:txBody>
      </ns0:sp>
      <ns0:sp>
        <ns0:nvSpPr>
          <ns0:cNvPr id="12" name="Rectangle 11"/>
          <ns0:cNvSpPr/>
          <ns0:nvPr/>
        </ns0:nvSpPr>
        <ns0:spPr>
          <ns1:xfrm>
            <ns1:off x="781812" y="1270193"/>
            <ns1:ext cx="6336792" cy="2836284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3" name="Picture 12" descr="fig3_tracking_curve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04672" y="1293053"/>
            <ns1:ext cx="6291072" cy="2790564"/>
          </ns1:xfrm>
          <ns1:prstGeom prst="rect">
            <ns1:avLst/>
          </ns1:prstGeom>
        </ns0:spPr>
      </ns0:pic>
      <ns0:sp>
        <ns0:nvSpPr>
          <ns0:cNvPr id="14" name="TextBox 13"/>
          <ns0:cNvSpPr txBox="1"/>
          <ns0:nvPr/>
        </ns0:nvSpPr>
        <ns0:spPr>
          <ns1:xfrm>
            <ns1:off x="7360920" y="1097280"/>
            <ns1:ext cx="3657600" cy="30632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左侧 3D 轨迹中，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Ours‑GC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的执行轨迹更接近参考闭合路径。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右侧 x、y、z、yaw 曲线显示 baseline 在横向位置和 yaw 上产生较大偏差。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4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偏差主要来自控制器饱和后的大幅摆动，轨迹层惩罚能够提前压制此类参考。</ns1:t>
            </ns1:r>
          </ns1:p>
        </ns0:txBody>
      </ns0:sp>
      <ns0:cxnSp>
        <ns0:nvCxnSpPr>
          <ns0:cNvPr id="15" name="Connector 14"/>
          <ns0:cNvCxnSpPr/>
          <ns0:nvPr/>
        </ns0:nvCxnSpPr>
        <ns0:spPr>
          <ns1:xfrm>
            <ns1:off x="804672" y="4645152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6" name="TextBox 15"/>
          <ns0:cNvSpPr txBox="1"/>
          <ns0:nvPr/>
        </ns0:nvSpPr>
        <ns0:spPr>
          <ns1:xfrm>
            <ns1:off x="877824" y="4992624"/>
            <ns1:ext cx="10012680" cy="80467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3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这组图不是只展示路径形状，而是把 reference 与 executed trajectory 放在同一坐标下，直接反映闭环跟踪误差。</ns1:t>
            </ns1:r>
          </ns1:p>
          <ns1:p>
            <ns1:pPr algn="l" marL="390000" indent="-120000">
              <ns1:lnSpc>
                <ns1:spcPct val="93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方法优化的是参考轨迹，但最终改善体现在执行轨迹的偏差和 crash rate 上。</ns1:t>
            </ns1:r>
          </ns1:p>
        </ns0:txBody>
      </ns0:sp>
    </ns0:spTree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03  实验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硬件实验验证方法可以接入 Crazyflie 平台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15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15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42415"/>
            <ns1:ext cx="4718304" cy="263347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论文在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Crazyflie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硬件平台上进行了飞行实验，目标是验证优化后的参考轨迹能够通过真实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执行。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仿真阶段使用 RotorPy 生成训练数据，硬件阶段仍采用参考轨迹加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的接口。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实验表明方法能得到成功飞行，而非只在仿真曲线中降低 crash rate。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由于论文篇幅较短，硬件结果主要体现可行性，规模化统计仍有限。</ns1:t>
            </ns1:r>
          </ns1:p>
        </ns0:txBody>
      </ns0:sp>
      <ns0:sp>
        <ns0:nvSpPr>
          <ns0:cNvPr id="13" name="Rectangle 12"/>
          <ns0:cNvSpPr/>
          <ns0:nvPr/>
        </ns0:nvSpPr>
        <ns0:spPr>
          <ns1:xfrm>
            <ns1:off x="6799278" y="1037844"/>
            <ns1:ext cx="3098386" cy="3200400"/>
          </ns1:xfrm>
          <ns1:prstGeom prst="rect">
            <ns1:avLst/>
          </ns1:prstGeom>
          <ns1:solidFill>
            <ns1:srgbClr val="E1E6E7"/>
          </ns1:solidFill>
          <ns1:ln>
            <ns1:noFill/>
          </ns1:ln>
          <ns1:effectLst/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pic>
        <ns0:nvPicPr>
          <ns0:cNvPr id="14" name="Picture 13" descr="fig1_motor_saturation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6822138" y="1060704"/>
            <ns1:ext cx="3052666" cy="3154680"/>
          </ns1:xfrm>
          <ns1:prstGeom prst="rect">
            <ns1:avLst/>
          </ns1:prstGeom>
        </ns0:spPr>
      </ns0:pic>
      <ns0:sp>
        <ns0:nvSpPr>
          <ns0:cNvPr id="15" name="TextBox 14"/>
          <ns0:cNvSpPr txBox="1"/>
          <ns0:nvPr/>
        </ns0:nvSpPr>
        <ns0:spPr>
          <ns1:xfrm>
            <ns1:off x="6355080" y="4352544"/>
            <ns1:ext cx="3657600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32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硬件平台与饱和现象示意</ns1:t>
            </ns1:r>
          </ns1:p>
        </ns0:txBody>
      </ns0:sp>
      <ns0:cxnSp>
        <ns0:nvCxnSpPr>
          <ns0:cNvPr id="16" name="Connector 15"/>
          <ns0:cNvCxnSpPr/>
          <ns0:nvPr/>
        </ns0:nvCxnSpPr>
        <ns0:spPr>
          <ns1:xfrm>
            <ns1:off x="786384" y="4791456"/>
            <ns1:ext cx="10241279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7" name="TextBox 16"/>
          <ns0:cNvSpPr txBox="1"/>
          <ns0:nvPr/>
        </ns0:nvSpPr>
        <ns0:spPr>
          <ns1:xfrm>
            <ns1:off x="822960" y="5138928"/>
            <ns1:ext cx="10149840" cy="768096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硬件部分的价值在于闭环接口一致：优化器输出的仍是常规参考轨迹，底层飞控不需要替换成学习策略。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这对无人机平台迁移更友好，因为控制器认证和调参成本通常高于轨迹层调整。</ns1:t>
            </ns1:r>
          </ns1:p>
        </ns0:txBody>
      </ns0:sp>
    </ns0:spTree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04  分析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方法定位：规划层修正而非控制器替换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16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16</ns1:t>
            </ns1:r>
          </ns1:p>
        </ns0:txBody>
      </ns0:sp>
      <ns0:graphicFrame>
        <ns0:nvGraphicFramePr>
          <ns0:cNvPr id="12" name="Table 11"/>
          <ns0:cNvGraphicFramePr>
            <ns1:graphicFrameLocks noGrp="1"/>
          </ns0:cNvGraphicFramePr>
          <ns0:nvPr/>
        </ns0:nvGraphicFramePr>
        <ns0:xfrm>
          <ns1:off x="786384" y="1115568"/>
          <ns1:ext cx="10195559" cy="2103120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1828800"/>
                <ns1:gridCol w="1874519"/>
                <ns1:gridCol w="3108960"/>
                <ns1:gridCol w="3383280"/>
              </ns1:tblGrid>
              <ns1:tr h="5257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路线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改变对象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优势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FFFFF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主要限制</ns1:t>
                      </ns1:r>
                    </ns1:p>
                  </ns1:txBody>
                  <ns1:tcPr marL="32004" marR="32004" marT="10972" marB="10972" anchor="ctr">
                    <ns1:solidFill>
                      <ns1:srgbClr val="26303A"/>
                    </ns1:solidFill>
                  </ns1:tcPr>
                </ns1:tc>
              </ns1:tr>
              <ns1:tr h="5257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Policy learning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反馈策略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可直接适应扰动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训练和安全验证成本高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  <ns1:tr h="5257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Adaptive control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控制器补偿项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能补偿模型误差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仍可能被激进参考牵制</ns1:t>
                      </ns1:r>
                    </ns1:p>
                  </ns1:txBody>
                  <ns1:tcPr marL="32004" marR="32004" marT="10972" marB="10972" anchor="ctr">
                    <ns1:solidFill>
                      <ns1:srgbClr val="EFF3F4"/>
                    </ns1:solidFill>
                  </ns1:tcPr>
                </ns1:tc>
              </ns1:tr>
              <ns1:tr h="5257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Quad-LCD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参考轨迹代价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1" i="0">
                          <ns1:solidFill>
                            <ns1:srgbClr val="D21E2A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保留固定控制器接口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>
                        <ns1:lnSpc>
                          <ns1:spcPct val="94000"/>
                        </ns1:lnSpc>
                        <ns1:spcAft>
                          <ns1:spcPts val="0"/>
                        </ns1:spcAft>
                      </ns1:pPr>
                      <ns1:r>
                        <ns1:rPr sz="1230" b="0" i="0">
                          <ns1:solidFill>
                            <ns1:srgbClr val="14191F"/>
                          </ns1:solidFill>
                          <ns1:latin typeface="Times New Roman"/>
                          <ns1:ea typeface="Times New Roman"/>
                          <ns1:cs typeface="Times New Roman"/>
                        </ns1:rPr>
                        <ns1:t>依赖仿真数据覆盖范围</ns1:t>
                      </ns1:r>
                    </ns1:p>
                  </ns1:txBody>
                  <ns1:tcPr marL="32004" marR="32004" marT="10972" marB="10972" anchor="ctr"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cxnSp>
        <ns0:nvCxnSpPr>
          <ns0:cNvPr id="13" name="Connector 12"/>
          <ns0:cNvCxnSpPr/>
          <ns0:nvPr/>
        </ns0:nvCxnSpPr>
        <ns0:spPr>
          <ns1:xfrm>
            <ns1:off x="786384" y="3584448"/>
            <ns1:ext cx="10195560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4" name="TextBox 13"/>
          <ns0:cNvSpPr txBox="1"/>
          <ns0:nvPr/>
        </ns0:nvSpPr>
        <ns0:spPr>
          <ns1:xfrm>
            <ns1:off x="786384" y="3913632"/>
            <ns1:ext cx="4846320" cy="16276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Quad‑LCD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适合已有稳定控制器、但轨迹在高机动段容易触发饱和的平台。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它把学习模块限制在规划代价中，降低了直接学习飞控策略的风险。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方法效果取决于仿真器、任务分布和训练数据是否覆盖实际机动范围。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6144768" y="3675887"/>
            <ns1:ext cx="4645152" cy="1444752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6" name="MATH_LABEL"/>
          <ns0:cNvSpPr txBox="1"/>
          <ns0:nvPr/>
        </ns0:nvSpPr>
        <ns0:spPr>
          <ns1:xfrm>
            <ns1:off x="6291072" y="3767327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定位</ns1:t>
            </ns1:r>
          </ns1:p>
        </ns0:txBody>
      </ns0:sp>
      <ns0:sp>
        <ns0:nvSpPr>
          <ns0:cNvPr id="17" name="MATH_BODY"/>
          <ns0:cNvSpPr txBox="1"/>
          <ns0:nvPr/>
        </ns0:nvSpPr>
        <ns0:spPr>
          <ns1:xfrm>
            <ns1:off x="7461504" y="3840479"/>
            <ns1:ext cx="3090672" cy="24377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controller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fixed</ns1:t>
            </ns1:r>
          </ns1:p>
        </ns0:txBody>
      </ns0:sp>
      <ns0:sp>
        <ns0:nvSpPr>
          <ns0:cNvPr id="18" name="MATH_BODY"/>
          <ns0:cNvSpPr txBox="1"/>
          <ns0:nvPr/>
        </ns0:nvSpPr>
        <ns0:spPr>
          <ns1:xfrm>
            <ns1:off x="7461504" y="4123943"/>
            <ns1:ext cx="3090672" cy="24377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trajectory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optimized</ns1:t>
            </ns1:r>
          </ns1:p>
        </ns0:txBody>
      </ns0:sp>
      <ns0:sp>
        <ns0:nvSpPr>
          <ns0:cNvPr id="19" name="MATH_BODY"/>
          <ns0:cNvSpPr txBox="1"/>
          <ns0:nvPr/>
        </ns0:nvSpPr>
        <ns0:spPr>
          <ns1:xfrm>
            <ns1:off x="7461504" y="4407407"/>
            <ns1:ext cx="3090672" cy="24377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penalty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learned</ns1:t>
            </ns1:r>
          </ns1:p>
        </ns0:txBody>
      </ns0:sp>
      <ns0:sp>
        <ns0:nvSpPr>
          <ns0:cNvPr id="20" name="MATH_BODY"/>
          <ns0:cNvSpPr txBox="1"/>
          <ns0:nvPr/>
        </ns0:nvSpPr>
        <ns0:spPr>
          <ns1:xfrm>
            <ns1:off x="7461504" y="4690871"/>
            <ns1:ext cx="3090672" cy="24377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used in planning cost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6345936" y="5266944"/>
            <ns1:ext cx="4407408" cy="53035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该方法保留常规 trajectory planner 接口，重点改造参考轨迹生成目标，而不是重构完整飞控系统。</ns1:t>
            </ns1:r>
          </ns1:p>
        </ns0:txBody>
      </ns0:sp>
    </ns0:spTree>
  </ns0:cSld>
  <ns0:clrMapOvr>
    <ns1:masterClrMapping/>
  </ns0:clrMapOvr>
</ns0:sld>
</file>

<file path=ppt/slides/slide17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04  分析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对无人机轨迹规划的启发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17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17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42415"/>
            <ns1:ext cx="4828032" cy="290779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在无人机规划中，几何可行与动力学可执行需要分层处理。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几何规划解决 waypoint、障碍物和路径长度；控制器感知代价解决参考轨迹能否被闭环跟踪。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对于高速穿越、狭窄空间或载荷变化任务，轨迹层加入执行惩罚可以降低事后重规划频率。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该思路可与 MPC、采样规划或学习型代价地图结合，只要输出仍能表达为参考轨迹。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6163056" y="1078992"/>
            <ns1:ext cx="4754880" cy="2852928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4" name="Rounded Rectangle 13"/>
          <ns0:cNvSpPr/>
          <ns0:nvPr/>
        </ns0:nvSpPr>
        <ns0:spPr>
          <ns1:xfrm>
            <ns1:off x="6473952" y="1408176"/>
            <ns1:ext cx="4041648" cy="40233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task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waypoints / constraints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6473952" y="1984248"/>
            <ns1:ext cx="4041648" cy="40233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trajectory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smooth reference</ns1:t>
            </ns1:r>
          </ns1:p>
        </ns0:txBody>
      </ns0:sp>
      <ns0:sp>
        <ns0:nvSpPr>
          <ns0:cNvPr id="16" name="Rounded Rectangle 15"/>
          <ns0:cNvSpPr/>
          <ns0:nvPr/>
        </ns0:nvSpPr>
        <ns0:spPr>
          <ns1:xfrm>
            <ns1:off x="6473952" y="2560320"/>
            <ns1:ext cx="4041648" cy="402336"/>
          </ns1:xfrm>
          <ns1:prstGeom prst="roundRect">
            <ns1:avLst/>
          </ns1:prstGeom>
          <ns1:solidFill>
            <ns1:srgbClr val="FFFFFF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controller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closed-loop tracking</ns1:t>
            </ns1:r>
          </ns1:p>
        </ns0:txBody>
      </ns0:sp>
      <ns0:sp>
        <ns0:nvSpPr>
          <ns0:cNvPr id="17" name="Rounded Rectangle 16"/>
          <ns0:cNvSpPr/>
          <ns0:nvPr/>
        </ns0:nvSpPr>
        <ns0:spPr>
          <ns1:xfrm>
            <ns1:off x="6473952" y="3136392"/>
            <ns1:ext cx="4041648" cy="40233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00A5B2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 lIns="73152" rIns="73152" tIns="36576" bIns="36576" wrap="square"/>
          <ns1:lstStyle/>
          <ns1:p>
            <ns1:pPr algn="ctr">
              <ns1:lnSpc>
                <ns1:spcPct val="93000"/>
              </ns1:lnSpc>
              <ns1:spcAft>
                <ns1:spcPts val="0"/>
              </ns1:spcAft>
            </ns1:pPr>
            <ns1:r>
              <ns1:rPr sz="13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actuator</ns1:t>
            </ns1:r>
          </ns1:p>
          <ns1:p>
            <ns1:pPr algn="ctr">
              <ns1:spcAft>
                <ns1:spcPts val="0"/>
              </ns1:spcAft>
            </ns1:pPr>
            <ns1:r>
              <ns1:rPr sz="122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motor-speed limits</ns1:t>
            </ns1:r>
          </ns1:p>
        </ns0:txBody>
      </ns0:sp>
      <ns0:cxnSp>
        <ns0:nvCxnSpPr>
          <ns0:cNvPr id="18" name="Connector 17"/>
          <ns0:cNvCxnSpPr/>
          <ns0:nvPr/>
        </ns0:nvCxnSpPr>
        <ns0:spPr>
          <ns1:xfrm>
            <ns1:off x="786384" y="4297680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9" name="TextBox 18"/>
          <ns0:cNvSpPr txBox="1"/>
          <ns0:nvPr/>
        </ns0:nvSpPr>
        <ns0:spPr>
          <ns1:xfrm>
            <ns1:off x="822960" y="4645152"/>
            <ns1:ext cx="10104120" cy="9601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本文提供的不是单一控制技巧，而是一种把执行层反馈写入规划层目标函数的建模方式。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2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对于已有飞控系统，先学习“哪些参考轨迹难以跟踪”，再优化参考轨迹，通常比直接更换控制器更容易落地。</ns1:t>
            </ns1:r>
          </ns1:p>
        </ns0:txBody>
      </ns0:sp>
    </ns0:spTree>
  </ns0:cSld>
  <ns0:clrMapOvr>
    <ns1:masterClrMapping/>
  </ns0:clrMapOvr>
</ns0:sld>
</file>

<file path=ppt/slides/slide18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04  分析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适用边界来自数据覆盖与硬件规模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18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18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60704"/>
            <ns1:ext cx="4956048" cy="30632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论文长度较短，硬件实验主要验证可行性，尚未给出大规模硬件统计。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MLP 的跟踪代价依赖 RotorPy 仿真质量；若真实平台动力学差异较大，代价函数可能低估风险。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训练按不同阻力配置分别进行，跨平台和跨载荷的泛化能力需要额外数据支持。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方法更适合轨迹层修正；若控制器本身稳定域不足，单靠参考层代价不能完全解决问题。</ns1:t>
            </ns1:r>
          </ns1:p>
        </ns0:txBody>
      </ns0:sp>
      <ns0:sp>
        <ns0:nvSpPr>
          <ns0:cNvPr id="13" name="Rounded Rectangle 12"/>
          <ns0:cNvSpPr/>
          <ns0:nvPr/>
        </ns0:nvSpPr>
        <ns0:spPr>
          <ns1:xfrm>
            <ns1:off x="6144768" y="1225296"/>
            <ns1:ext cx="4773168" cy="1380744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4" name="MATH_LABEL"/>
          <ns0:cNvSpPr txBox="1"/>
          <ns0:nvPr/>
        </ns0:nvSpPr>
        <ns0:spPr>
          <ns1:xfrm>
            <ns1:off x="6291072" y="1316736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风险</ns1:t>
            </ns1:r>
          </ns1:p>
        </ns0:txBody>
      </ns0:sp>
      <ns0:sp>
        <ns0:nvSpPr>
          <ns0:cNvPr id="15" name="MATH_BODY"/>
          <ns0:cNvSpPr txBox="1"/>
          <ns0:nvPr/>
        </ns0:nvSpPr>
        <ns0:spPr>
          <ns1:xfrm>
            <ns1:off x="7461504" y="1389888"/>
            <ns1:ext cx="3218687" cy="30668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g</ns1:t>
            </ns1:r>
            <ns1:r>
              <ns1:rPr sz="1245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θ</ns1:t>
            </ns1: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(φ(c)) ≈ J</ns1:t>
            </ns1:r>
            <ns1:r>
              <ns1:rPr sz="1245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track</ns1:t>
            </ns1: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(c)</ns1:t>
            </ns1:r>
          </ns1:p>
        </ns0:txBody>
      </ns0:sp>
      <ns0:sp>
        <ns0:nvSpPr>
          <ns0:cNvPr id="16" name="MATH_BODY"/>
          <ns0:cNvSpPr txBox="1"/>
          <ns0:nvPr/>
        </ns0:nvSpPr>
        <ns0:spPr>
          <ns1:xfrm>
            <ns1:off x="7461504" y="1746504"/>
            <ns1:ext cx="3218687" cy="30668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valid in D</ns1:t>
            </ns1:r>
            <ns1:r>
              <ns1:rPr sz="1245" b="0" i="0" baseline="-2600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train</ns1:t>
            </ns1:r>
          </ns1:p>
        </ns0:txBody>
      </ns0:sp>
      <ns0:sp>
        <ns0:nvSpPr>
          <ns0:cNvPr id="17" name="MATH_BODY"/>
          <ns0:cNvSpPr txBox="1"/>
          <ns0:nvPr/>
        </ns0:nvSpPr>
        <ns0:spPr>
          <ns1:xfrm>
            <ns1:off x="7461504" y="2103120"/>
            <ns1:ext cx="3218687" cy="306689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73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coverage(D) ↑  ⇒  reliability ↑</ns1:t>
            </ns1:r>
          </ns1:p>
        </ns0:txBody>
      </ns0:sp>
      <ns0:sp>
        <ns0:nvSpPr>
          <ns0:cNvPr id="18" name="TextBox 17"/>
          <ns0:cNvSpPr txBox="1"/>
          <ns0:nvPr/>
        </ns0:nvSpPr>
        <ns0:spPr>
          <ns1:xfrm>
            <ns1:off x="6327648" y="2761488"/>
            <ns1:ext cx="4407408" cy="138988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使用该方法时，应优先检查任务分布、飞行速度、阻力参数和电机模型是否与训练数据一致。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对高风险飞行任务，仍需要硬件安全边界和在线监测配合。</ns1:t>
            </ns1:r>
          </ns1:p>
        </ns0:txBody>
      </ns0:sp>
      <ns0:cxnSp>
        <ns0:nvCxnSpPr>
          <ns0:cNvPr id="19" name="Connector 18"/>
          <ns0:cNvCxnSpPr/>
          <ns0:nvPr/>
        </ns0:nvCxnSpPr>
        <ns0:spPr>
          <ns1:xfrm>
            <ns1:off x="786384" y="4535424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20" name="Rounded Rectangle 19"/>
          <ns0:cNvSpPr/>
          <ns0:nvPr/>
        </ns0:nvSpPr>
        <ns0:spPr>
          <ns1:xfrm>
            <ns1:off x="841248" y="488289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1" name="TextBox 20"/>
          <ns0:cNvSpPr txBox="1"/>
          <ns0:nvPr/>
        </ns0:nvSpPr>
        <ns0:spPr>
          <ns1:xfrm>
            <ns1:off x="932688" y="4974336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data</ns1:t>
            </ns1:r>
          </ns1:p>
        </ns0:txBody>
      </ns0:sp>
      <ns0:sp>
        <ns0:nvSpPr>
          <ns0:cNvPr id="22" name="TextBox 21"/>
          <ns0:cNvSpPr txBox="1"/>
          <ns0:nvPr/>
        </ns0:nvSpPr>
        <ns0:spPr>
          <ns1:xfrm>
            <ns1:off x="932688" y="529437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coverage</ns1:t>
            </ns1:r>
          </ns1:p>
        </ns0:txBody>
      </ns0:sp>
      <ns0:sp>
        <ns0:nvSpPr>
          <ns0:cNvPr id="23" name="TextBox 22"/>
          <ns0:cNvSpPr txBox="1"/>
          <ns0:nvPr/>
        </ns0:nvSpPr>
        <ns0:spPr>
          <ns1:xfrm>
            <ns1:off x="932688" y="5513831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task / platform</ns1:t>
            </ns1:r>
          </ns1:p>
        </ns0:txBody>
      </ns0:sp>
      <ns0:sp>
        <ns0:nvSpPr>
          <ns0:cNvPr id="24" name="Rounded Rectangle 23"/>
          <ns0:cNvSpPr/>
          <ns0:nvPr/>
        </ns0:nvSpPr>
        <ns0:spPr>
          <ns1:xfrm>
            <ns1:off x="4209288" y="488289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5" name="TextBox 24"/>
          <ns0:cNvSpPr txBox="1"/>
          <ns0:nvPr/>
        </ns0:nvSpPr>
        <ns0:spPr>
          <ns1:xfrm>
            <ns1:off x="4300728" y="4974336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model</ns1:t>
            </ns1:r>
          </ns1:p>
        </ns0:txBody>
      </ns0:sp>
      <ns0:sp>
        <ns0:nvSpPr>
          <ns0:cNvPr id="26" name="TextBox 25"/>
          <ns0:cNvSpPr txBox="1"/>
          <ns0:nvPr/>
        </ns0:nvSpPr>
        <ns0:spPr>
          <ns1:xfrm>
            <ns1:off x="4300728" y="529437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fidelity</ns1:t>
            </ns1:r>
          </ns1:p>
        </ns0:txBody>
      </ns0:sp>
      <ns0:sp>
        <ns0:nvSpPr>
          <ns0:cNvPr id="27" name="TextBox 26"/>
          <ns0:cNvSpPr txBox="1"/>
          <ns0:nvPr/>
        </ns0:nvSpPr>
        <ns0:spPr>
          <ns1:xfrm>
            <ns1:off x="4300728" y="5513831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RotorPy vs hardware</ns1:t>
            </ns1:r>
          </ns1:p>
        </ns0:txBody>
      </ns0:sp>
      <ns0:sp>
        <ns0:nvSpPr>
          <ns0:cNvPr id="28" name="Rounded Rectangle 27"/>
          <ns0:cNvSpPr/>
          <ns0:nvPr/>
        </ns0:nvSpPr>
        <ns0:spPr>
          <ns1:xfrm>
            <ns1:off x="7577328" y="4882896"/>
            <ns1:ext cx="3221736" cy="859536"/>
          </ns1:xfrm>
          <ns1:prstGeom prst="roundRect">
            <ns1:avLst/>
          </ns1:prstGeom>
          <ns1:solidFill>
            <ns1:srgbClr val="EBEFF0"/>
          </ns1:solidFill>
          <ns1:ln w="10160">
            <ns1:solidFill>
              <ns1:srgbClr val="B8C1C6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29" name="TextBox 28"/>
          <ns0:cNvSpPr txBox="1"/>
          <ns0:nvPr/>
        </ns0:nvSpPr>
        <ns0:spPr>
          <ns1:xfrm>
            <ns1:off x="7668768" y="4974336"/>
            <ns1:ext cx="3038856" cy="2743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control</ns1:t>
            </ns1:r>
          </ns1:p>
        </ns0:txBody>
      </ns0:sp>
      <ns0:sp>
        <ns0:nvSpPr>
          <ns0:cNvPr id="30" name="TextBox 29"/>
          <ns0:cNvSpPr txBox="1"/>
          <ns0:nvPr/>
        </ns0:nvSpPr>
        <ns0:spPr>
          <ns1:xfrm>
            <ns1:off x="7668768" y="5294376"/>
            <ns1:ext cx="3038856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80" b="1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stability</ns1:t>
            </ns1:r>
          </ns1:p>
        </ns0:txBody>
      </ns0:sp>
      <ns0:sp>
        <ns0:nvSpPr>
          <ns0:cNvPr id="31" name="TextBox 30"/>
          <ns0:cNvSpPr txBox="1"/>
          <ns0:nvPr/>
        </ns0:nvSpPr>
        <ns0:spPr>
          <ns1:xfrm>
            <ns1:off x="7668768" y="5513831"/>
            <ns1:ext cx="3038856" cy="18288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09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fixed controller range</ns1:t>
            </ns1:r>
          </ns1:p>
        </ns0:txBody>
      </ns0:sp>
    </ns0:spTree>
  </ns0:cSld>
  <ns0:clrMapOvr>
    <ns1:masterClrMapping/>
  </ns0:clrMapOvr>
</ns0:sld>
</file>

<file path=ppt/slides/slide19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F4F6F5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12191695" cy="713232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0" y="694944"/>
            <ns1:ext cx="12191695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38912" y="182880"/>
            <ns1:ext cx="1234440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05  小结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600200" y="118872"/>
            <ns1:ext cx="8961120" cy="43891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225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Quad-LCD 的主要结论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11137392" y="210312"/>
            <ns1:ext cx="566928" cy="22860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150" b="1" i="0">
                <ns1:solidFill>
                  <ns1:srgbClr val="00A5B2"/>
                </ns1:solidFill>
                <ns1:latin typeface="Times New Roman"/>
                <ns1:ea typeface="Times New Roman"/>
                <ns1:cs typeface="Times New Roman"/>
              </ns1:rPr>
              <ns1:t>19</ns1:t>
            </ns1:r>
          </ns1:p>
        </ns0:txBody>
      </ns0:sp>
      <ns0:sp>
        <ns0:nvSpPr>
          <ns0:cNvPr id="8" name="Rectangle 7"/>
          <ns0:cNvSpPr/>
          <ns0:nvPr/>
        </ns0:nvSpPr>
        <ns0:spPr>
          <ns1:xfrm>
            <ns1:off x="393192" y="905256"/>
            <ns1:ext cx="100584" cy="5413248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cxnSp>
        <ns0:nvCxnSpPr>
          <ns0:cNvPr id="9" name="Connector 8"/>
          <ns0:cNvCxnSpPr/>
          <ns0:nvPr/>
        </ns0:nvCxnSpPr>
        <ns0:spPr>
          <ns1:xfrm>
            <ns1:off x="640080" y="6428232"/>
            <ns1:ext cx="10927079" cy="0"/>
          </ns1:xfrm>
          <ns1:prstGeom prst="line">
            <ns1:avLst/>
          </ns1:prstGeom>
          <ns1:ln w="6985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TextBox 9"/>
          <ns0:cNvSpPr txBox="1"/>
          <ns0:nvPr/>
        </ns0:nvSpPr>
        <ns0:spPr>
          <ns1:xfrm>
            <ns1:off x="658368" y="6483096"/>
            <ns1:ext cx="4754880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Quad-LCD / actuator-feasible quadrotor planning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9875520" y="6483096"/>
            <ns1:ext cx="1664208" cy="201168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950" b="0" i="0">
                <ns1:solidFill>
                  <ns1:srgbClr val="586069"/>
                </ns1:solidFill>
                <ns1:latin typeface="Times New Roman"/>
                <ns1:ea typeface="Times New Roman"/>
                <ns1:cs typeface="Times New Roman"/>
              </ns1:rPr>
              <ns1:t>Paper report · 19</ns1:t>
            </ns1:r>
          </ns1:p>
        </ns0:txBody>
      </ns0:sp>
      <ns0:sp>
        <ns0:nvSpPr>
          <ns0:cNvPr id="12" name="TextBox 11"/>
          <ns0:cNvSpPr txBox="1"/>
          <ns0:nvPr/>
        </ns0:nvSpPr>
        <ns0:spPr>
          <ns1:xfrm>
            <ns1:off x="749808" y="1097280"/>
            <ns1:ext cx="10241280" cy="118872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235000" indent="-15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● 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Quad‑LCD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把</ns1:t>
            </ns1:r>
            <ns1:r>
              <ns1:rPr sz="17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固定控制器</ns1:t>
            </ns1:r>
            <ns1:r>
              <ns1:rPr sz="17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的闭环跟踪能力学习成 trajectory penalty，并在参考轨迹优化中显式使用。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方法保留 minimum snap / polynomial trajectory 结构，同时降低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电机饱和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导致的 crash 风险。</ns1:t>
            </ns1:r>
          </ns1:p>
          <ns1:p>
            <ns1:pPr algn="l" marL="390000" indent="-120000">
              <ns1:lnSpc>
                <ns1:spcPct val="98000"/>
              </ns1:lnSpc>
              <ns1:spcBef>
                <ns1:spcPts val="0"/>
              </ns1:spcBef>
              <ns1:spcAft>
                <ns1:spcPts val="3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仿真中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Ours‑GC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的 crash rate 为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6.0%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，相对基线约降低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49%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，硬件实验展示了 </ns1:t>
            </ns1:r>
            <ns1:r>
              <ns1:rPr sz="1680" b="1" i="0">
                <ns1:solidFill>
                  <ns1:srgbClr val="D21E2A"/>
                </ns1:solidFill>
                <ns1:latin typeface="Times New Roman"/>
                <ns1:ea typeface="Times New Roman"/>
                <ns1:cs typeface="Times New Roman"/>
              </ns1:rPr>
              <ns1:t>Crazyflie</ns1:t>
            </ns1: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 上的可行性。</ns1:t>
            </ns1:r>
          </ns1:p>
        </ns0:txBody>
      </ns0:sp>
      <ns0:cxnSp>
        <ns0:nvCxnSpPr>
          <ns0:cNvPr id="13" name="Connector 12"/>
          <ns0:cNvCxnSpPr/>
          <ns0:nvPr/>
        </ns0:nvCxnSpPr>
        <ns0:spPr>
          <ns1:xfrm>
            <ns1:off x="786384" y="2615184"/>
            <ns1:ext cx="10222992" cy="0"/>
          </ns1:xfrm>
          <ns1:prstGeom prst="line">
            <ns1:avLst/>
          </ns1:prstGeom>
          <ns1:ln w="11430">
            <ns1:solidFill>
              <ns1:srgbClr val="B8C1C6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14" name="Rounded Rectangle 13"/>
          <ns0:cNvSpPr/>
          <ns0:nvPr/>
        </ns0:nvSpPr>
        <ns0:spPr>
          <ns1:xfrm>
            <ns1:off x="877824" y="2852928"/>
            <ns1:ext cx="10012680" cy="1408176"/>
          </ns1:xfrm>
          <ns1:prstGeom prst="roundRect">
            <ns1:avLst/>
          </ns1:prstGeom>
          <ns1:solidFill>
            <ns1:srgbClr val="E0F4F4"/>
          </ns1:solidFill>
          <ns1:ln w="10160">
            <ns1:solidFill>
              <ns1:srgbClr val="AAD4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15" name="MATH_LABEL"/>
          <ns0:cNvSpPr txBox="1"/>
          <ns0:nvPr/>
        </ns0:nvSpPr>
        <ns0:spPr>
          <ns1:xfrm>
            <ns1:off x="1024127" y="2944368"/>
            <ns1:ext cx="1133856" cy="237744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80" b="1" i="0">
                <ns1:solidFill>
                  <ns1:srgbClr val="00707C"/>
                </ns1:solidFill>
                <ns1:latin typeface="Times New Roman"/>
                <ns1:ea typeface="Times New Roman"/>
                <ns1:cs typeface="Times New Roman"/>
              </ns1:rPr>
              <ns1:t>总结</ns1:t>
            </ns1:r>
          </ns1:p>
        </ns0:txBody>
      </ns0:sp>
      <ns0:sp>
        <ns0:nvSpPr>
          <ns0:cNvPr id="16" name="MATH_BODY"/>
          <ns0:cNvSpPr txBox="1"/>
          <ns0:nvPr/>
        </ns0:nvSpPr>
        <ns0:spPr>
          <ns1:xfrm>
            <ns1:off x="2194560" y="3017520"/>
            <ns1:ext cx="8458200" cy="235915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reference trajectory + tracking penalty</ns1:t>
            </ns1:r>
          </ns1:p>
        </ns0:txBody>
      </ns0:sp>
      <ns0:sp>
        <ns0:nvSpPr>
          <ns0:cNvPr id="17" name="MATH_BODY"/>
          <ns0:cNvSpPr txBox="1"/>
          <ns0:nvPr/>
        </ns0:nvSpPr>
        <ns0:spPr>
          <ns1:xfrm>
            <ns1:off x="2194560" y="3291840"/>
            <ns1:ext cx="8458200" cy="235915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→ actuator-feasible planning</ns1:t>
            </ns1:r>
          </ns1:p>
        </ns0:txBody>
      </ns0:sp>
      <ns0:sp>
        <ns0:nvSpPr>
          <ns0:cNvPr id="18" name="MATH_BODY"/>
          <ns0:cNvSpPr txBox="1"/>
          <ns0:nvPr/>
        </ns0:nvSpPr>
        <ns0:spPr>
          <ns1:xfrm>
            <ns1:off x="2194560" y="3566160"/>
            <ns1:ext cx="8458200" cy="235915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fixed controller retained</ns1:t>
            </ns1:r>
          </ns1:p>
        </ns0:txBody>
      </ns0:sp>
      <ns0:sp>
        <ns0:nvSpPr>
          <ns0:cNvPr id="19" name="MATH_BODY"/>
          <ns0:cNvSpPr txBox="1"/>
          <ns0:nvPr/>
        </ns0:nvSpPr>
        <ns0:spPr>
          <ns1:xfrm>
            <ns1:off x="2194560" y="3840480"/>
            <ns1:ext cx="8458200" cy="235915"/>
          </ns1:xfrm>
          <ns1:prstGeom prst="rect">
            <ns1:avLst/>
          </ns1:prstGeom>
          <ns1:noFill/>
        </ns0:spPr>
        <ns0:txBody>
          <ns1:bodyPr wrap="none" lIns="0" rIns="0" tIns="0" bIns="0">
            <ns1:spAutoFit/>
          </ns1:bodyPr>
          <ns1:lstStyle/>
          <ns1:p>
            <ns1:pPr algn="l">
              <ns1:spcBef>
                <ns1:spcPts val="0"/>
              </ns1:spcBef>
              <ns1:spcAft>
                <ns1:spcPts val="0"/>
              </ns1:spcAft>
            </ns1:pPr>
            <ns1:r>
              <ns1:rPr sz="1639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trajectory reshaped, crash risk reduced</ns1:t>
            </ns1:r>
          </ns1:p>
        </ns0:txBody>
      </ns0:sp>
      <ns0:sp>
        <ns0:nvSpPr>
          <ns0:cNvPr id="20" name="TextBox 19"/>
          <ns0:cNvSpPr txBox="1"/>
          <ns0:nvPr/>
        </ns0:nvSpPr>
        <ns0:spPr>
          <ns1:xfrm>
            <ns1:off x="804672" y="4599432"/>
            <ns1:ext cx="4736592" cy="10058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技术上，本文的重点是把“可跟踪性”转成数据驱动的可优化函数。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工程上，该方法更容易嵌入已有轨迹规划与飞控接口。</ns1:t>
            </ns1:r>
          </ns1:p>
        </ns0:txBody>
      </ns0:sp>
      <ns0:sp>
        <ns0:nvSpPr>
          <ns0:cNvPr id="21" name="TextBox 20"/>
          <ns0:cNvSpPr txBox="1"/>
          <ns0:nvPr/>
        </ns0:nvSpPr>
        <ns0:spPr>
          <ns1:xfrm>
            <ns1:off x="6144768" y="4599432"/>
            <ns1:ext cx="4736592" cy="10058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局限主要来自仿真数据覆盖、平台差异和硬件实验规模。</ns1:t>
            </ns1:r>
          </ns1:p>
          <ns1:p>
            <ns1:pPr algn="l" marL="390000" indent="-120000">
              <ns1:lnSpc>
                <ns1:spcPct val="94000"/>
              </ns1:lnSpc>
              <ns1:spcBef>
                <ns1:spcPts val="0"/>
              </ns1:spcBef>
              <ns1:spcAft>
                <ns1:spcPts val="5"/>
              </ns1:spcAft>
            </ns1:pPr>
            <ns1:r>
              <ns1:rPr sz="1680" b="0" i="0">
                <ns1:solidFill>
                  <ns1:srgbClr val="14191F"/>
                </ns1:solidFill>
                <ns1:latin typeface="Times New Roman"/>
                <ns1:ea typeface="Times New Roman"/>
                <ns1:cs typeface="Times New Roman"/>
              </ns1:rPr>
              <ns1:t>• 对于高机动无人机任务，该工作提供了规划层处理执行约束的清晰路径。</ns1:t>
            </ns1:r>
          </ns1:p>
        </ns0:txBody>
      </ns0:sp>
    </ns0:spTree>
  </ns0:cSld>
  <ns0:clrMapOvr>
    <ns1:masterClrMapping/>
  </ns0:clrMapOvr>
</ns0:sld>
</file>

<file path=ppt/slides/slide20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/>
      <ns0:sp>
        <ns0:nvSpPr>
          <ns0:cNvPr id="2" name="Rectangle 1"/>
          <ns0:cNvSpPr/>
          <ns0:nvPr/>
        </ns0:nvSpPr>
        <ns0:spPr>
          <ns1:xfrm>
            <ns1:off x="0" y="0"/>
            <ns1:ext cx="12191695" cy="6858000"/>
          </ns1:xfrm>
          <ns1:prstGeom prst="rect">
            <ns1:avLst/>
          </ns1:prstGeom>
          <ns1:solidFill>
            <ns1:srgbClr val="1C232B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3" name="Rectangle 2"/>
          <ns0:cNvSpPr/>
          <ns0:nvPr/>
        </ns0:nvSpPr>
        <ns0:spPr>
          <ns1:xfrm>
            <ns1:off x="0" y="0"/>
            <ns1:ext cx="237744" cy="6858000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4" name="Rectangle 3"/>
          <ns0:cNvSpPr/>
          <ns0:nvPr/>
        </ns0:nvSpPr>
        <ns0:spPr>
          <ns1:xfrm>
            <ns1:off x="2304288" y="2697480"/>
            <ns1:ext cx="7589520" cy="32004"/>
          </ns1:xfrm>
          <ns1:prstGeom prst="rect">
            <ns1:avLst/>
          </ns1:prstGeom>
          <ns1:solidFill>
            <ns1:srgbClr val="00A5B2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</ns0:sp>
      <ns0:sp>
        <ns0:nvSpPr>
          <ns0:cNvPr id="5" name="TextBox 4"/>
          <ns0:cNvSpPr txBox="1"/>
          <ns0:nvPr/>
        </ns0:nvSpPr>
        <ns0:spPr>
          <ns1:xfrm>
            <ns1:off x="457200" y="2926080"/>
            <ns1:ext cx="11155680" cy="77724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4600" b="1" i="0">
                <ns1:solidFill>
                  <ns1:srgbClr val="FFFFFF"/>
                </ns1:solidFill>
                <ns1:latin typeface="Times New Roman"/>
                <ns1:ea typeface="Times New Roman"/>
                <ns1:cs typeface="Times New Roman"/>
              </ns1:rPr>
              <ns1:t>谢谢！</ns1:t>
            </ns1:r>
          </ns1:p>
        </ns0:txBody>
      </ns0:sp>
      <ns0:sp>
        <ns0:nvSpPr>
          <ns0:cNvPr id="6" name="TextBox 5"/>
          <ns0:cNvSpPr txBox="1"/>
          <ns0:nvPr/>
        </ns0:nvSpPr>
        <ns0:spPr>
          <ns1:xfrm>
            <ns1:off x="1993392" y="3767328"/>
            <ns1:ext cx="8229600" cy="365760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650" b="0" i="0">
                <ns1:solidFill>
                  <ns1:srgbClr val="DAE2E6"/>
                </ns1:solidFill>
                <ns1:latin typeface="Times New Roman"/>
                <ns1:ea typeface="Times New Roman"/>
                <ns1:cs typeface="Times New Roman"/>
              </ns1:rPr>
              <ns1:t>Quad-LCD：面向电机饱和约束的四旋翼轨迹规划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5257800" y="6163056"/>
            <ns1:ext cx="1719072" cy="256032"/>
          </ns1:xfrm>
          <ns1:prstGeom prst="rect">
            <ns1:avLst/>
          </ns1:prstGeom>
          <ns1:noFill/>
        </ns0:spPr>
        <ns0:txBody>
          <ns1:bodyPr wrap="square" lIns="0" rIns="0" tIns="0" bIns="0">
            <ns1:spAutoFit/>
          </ns1:bodyPr>
          <ns1:lstStyle/>
          <ns1:p>
            <ns1: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</ns1:pPr>
            <ns1:r>
              <ns1:rPr sz="1240" b="0" i="0">
                <ns1:solidFill>
                  <ns1:srgbClr val="BECAD0"/>
                </ns1:solidFill>
                <ns1:latin typeface="Times New Roman"/>
                <ns1:ea typeface="Times New Roman"/>
                <ns1:cs typeface="Times New Roman"/>
              </ns1:rPr>
              <ns1:t>2026-05-09</ns1:t>
            </ns1:r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0</ep:TotalTime>
  <ep:Words>0</ep:Words>
  <ep:Application>Microsoft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ep:HeadingPairs>
  <ep:TitlesOfParts>
    <vt:vector size="1" baseType="lpstr">
      <vt:lpstr>Office Theme</vt:lpstr>
    </vt:vector>
  </ep:TitlesOfParts>
  <ep:Manager/>
  <ep:Company/>
  <ep:LinksUpToDate>false</ep:LinksUpToDate>
  <ep:SharedDoc>false</ep:SharedDoc>
  <ep:HyperlinkBase/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</dc:title>
  <dc:subject/>
  <dc:creator>paper2ppt</dc:creator>
  <cp:keywords/>
  <dc:description/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