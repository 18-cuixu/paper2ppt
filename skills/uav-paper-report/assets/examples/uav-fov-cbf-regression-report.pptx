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4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749039" y="585216"/>
            <a:ext cx="4645152" cy="1289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94560"/>
            <a:ext cx="12191695" cy="2834640"/>
          </a:xfrm>
          <a:prstGeom prst="rect">
            <a:avLst/>
          </a:prstGeom>
          <a:solidFill>
            <a:srgbClr val="007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Box 3"/>
          <p:cNvSpPr txBox="1"/>
          <p:nvPr/>
        </p:nvSpPr>
        <p:spPr>
          <a:xfrm>
            <a:off x="347472" y="2615184"/>
            <a:ext cx="1150315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Robust Trajectory Generation and Control for Quadrotor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Motion Planning with Field-of-View CBF 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77056"/>
            <a:ext cx="121889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Pan et al. / IEEE Robotics and Automation Letters Preprint /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0533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2026年5月8日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1.1 通信受限多机协同的核心矛盾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6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论文研究通信受限场景下的多四旋翼分布式导航。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6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系统不能依赖持续通信，需要通过机载相机保持邻居可见并估计相对状态。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6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有限视场、估计不确定性和临时跟踪丢失会同时影响避碰、安全距离和到达目标。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90779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749808" y="30906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通信风险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2" y="30906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感知约束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6096" y="30906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控制需求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38144"/>
            <a:ext cx="32735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消息丢失、延迟和对抗干扰会削弱中心化或强通信规划。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只依靠广播状态难以保证大规模多机系统的鲁棒协同。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9936" y="3438144"/>
            <a:ext cx="3346704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邻居必须位于FOV内，同时保持最小安全距离Ds。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临时跟踪丢失后，控制器需要把系统重新带回安全可见集合。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3438144"/>
            <a:ext cx="354787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CBF给出安全认证，MPC-CBF用离散优化近似连续时间认证控制。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目标是在实时规划中同时处理轨迹、控制输入、FOV和避碰约束。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513892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TextBox 14"/>
          <p:cNvSpPr txBox="1"/>
          <p:nvPr/>
        </p:nvSpPr>
        <p:spPr>
          <a:xfrm>
            <a:off x="786384" y="5394960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10 robots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797296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仿真规模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108192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circle/formation 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5394960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 UAVs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5797296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实机验证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6108192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PX4 + Vicon + RealSense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5394960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0.1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5797296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控制周期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6108192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在线 MPC-CBF 重规划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 论文主要贡献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核心贡献是把有限视场保持、避碰和实时轨迹生成统一到CBF认证框架中。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505456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676656" y="27614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连续时间认证控制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127248"/>
            <a:ext cx="3364992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构造安全距离CBF与FOV CBF，使邻居保持在可观测区域。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HOCBF处理双积分模型下的高阶约束，使控制输入直接满足安全条件。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544" y="27614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MPC-CBF 离散优化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2544" y="3127248"/>
            <a:ext cx="3364992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将连续时间CBF条件采样到预测时域内，形成可在线求解的优化问题。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用线性surrogate和SQP降低高阶CBF约束的求解难度。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7614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仿真与实机验证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3127248"/>
            <a:ext cx="3364992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在circle/formation场景测试2-10台机器人规模。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在两架自研四旋翼上验证视觉接触约束与实时飞行可行性。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5029200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TextBox 14"/>
          <p:cNvSpPr txBox="1"/>
          <p:nvPr/>
        </p:nvSpPr>
        <p:spPr>
          <a:xfrm>
            <a:off x="676656" y="5248656"/>
            <a:ext cx="10899648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本文不是单纯加入FOV代价，而是把“邻居保持在视场内”写成可认证的安全约束。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MPC-CBF的价值在于把理论CBF条件落到实时可求解的预测控制形式。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2.1 FOV 几何与安全集合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相机视场被建模为截断球扇形区域，二维情况下对应角度受限的扇形平面。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邻居进入该区域才可被可靠估计；同时需要满足最小安全距离。</a:t>
            </a:r>
          </a:p>
        </p:txBody>
      </p:sp>
      <p:pic>
        <p:nvPicPr>
          <p:cNvPr id="7" name="Picture 6" descr="fig2_fov_geometry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819341" y="2743200"/>
            <a:ext cx="4816980" cy="19751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54496" y="2633472"/>
            <a:ext cx="4901184" cy="1993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几何量直接进入后续CBF约束。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βH、βV表示水平和垂直视场角，Rs表示传感器可观测距离。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Ds表示邻居与本机之间需要维持的最小安全距离。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蓝色体积或红色扇形平面给出了可安全检测的区域。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4992624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76656" y="5212080"/>
            <a:ext cx="10899648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与普通避碰不同，该问题要求机器人在到达目标时持续保持邻居可见，因此yaw和相对方位也属于安全控制的一部分。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后续CBF同时约束安全距离和FOV边界，使视觉接触成为可验证的轨迹条件。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2.2 距离 CBF 与视场 CBF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论文把安全距离和FOV可见性分别写成CBF，再组合成统一安全条件。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安全距离 CBF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96896"/>
            <a:ext cx="6693408" cy="4010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(6)    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b_sr(r_ij) = r_ij^T r_ij - D_s^2 &gt;=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39"/>
            <a:ext cx="6693408" cy="4010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8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r_ij = r_j - r_i 表示邻居相对位置，D_s 是最小安全距离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3931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FOV 约束与组合条件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05072"/>
            <a:ext cx="6693408" cy="4246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(7)   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b_fov(r_ij) &gt;= 0 约束邻居位于水平视场角 β_H 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98848"/>
            <a:ext cx="6693408" cy="4246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(8)   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b(r_ij) = [ b_sr; b_fov ] &gt;= 0,  ∀j∈N_i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2340864"/>
            <a:ext cx="32918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约束含义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b_sr控制邻居间最小距离，防止多机碰撞。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b_fov控制相对方位，保证邻居保持在相机视场内。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组合向量b同时进入HOCBF与后续MPC-CBF求解。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523036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TextBox 14"/>
          <p:cNvSpPr txBox="1"/>
          <p:nvPr/>
        </p:nvSpPr>
        <p:spPr>
          <a:xfrm>
            <a:off x="676656" y="5413248"/>
            <a:ext cx="1089964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1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距离约束避免碰撞，FOV约束维持视觉接触；两者同时满足才构成可通信受限环境中的安全多机协同。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1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当邻居暂时离开可见集合时，后续HOCBF控制会把系统重新稳定回安全集合。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1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该组合条件是后续HOCBF和MPC-CBF的共同输入，决定每个采样时刻是否满足安全集合。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2.3 高阶 CBF 认证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四旋翼规划采用双积分近似时，FOV/距离约束对控制输入具有相对阶，需要高阶CBF。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HOCBF将安全集合前向不变性转化为控制输入u上的可检查不等式。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10607040" cy="4561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39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(9)    </a:t>
            </a:r>
            <a:r>
              <a:rPr sz="19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L_f^2 b(.) + L_g L_f b(.) u + (2μ+1)γ_1 b^(2μ)(.) L_f b(.)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273552"/>
            <a:ext cx="10607040" cy="4561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39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9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 γ_2( L_f b(.) + γ_1 b^(2μ+1)(.) )^(2μ+1) &gt;= 0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409651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76656" y="4334256"/>
            <a:ext cx="5266944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L_f、L_g表示沿系统动力学的Lie derivative。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γ1、γ2和 μ 控制约束收敛速度和安全集合恢复强度。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该条件保证状态离开安全集合时，控制输入会把系统带回安全区域。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4334256"/>
            <a:ext cx="5138928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公式复杂，但作用明确：把“保持可见和安全距离”变成控制输入约束。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后续MPC-CBF不直接处理所有连续时间t，而是在预测时域内采样近似。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采样近似降低了求解难度，但采样间隔会影响认证质量和运行时间。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2.4 MPC-CBF 轨迹生成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MPC-CBF在每个控制周期内生成预测轨迹，并在采样时刻施加CBF约束。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机器人只执行预测轨迹的第一段，然后在下一时刻重新规划。</a:t>
            </a:r>
          </a:p>
        </p:txBody>
      </p:sp>
      <p:pic>
        <p:nvPicPr>
          <p:cNvPr id="7" name="Picture 6" descr="fig3_mpc_cbf_steps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555085" y="2761488"/>
            <a:ext cx="3327205" cy="19933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2615184"/>
            <a:ext cx="4974336" cy="2121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蓝色三角形表示预测FOV，红色曲线表示规划轨迹。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预测时域被离散为k=0,...,K-1的采样点。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每个采样点都需要满足动力学、连续性、FOV和避碰约束。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这种滚动优化形式使CBF认证能够接入实时轨迹生成。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5065776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76656" y="5285232"/>
            <a:ext cx="1089964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优化目标Jcost同时考虑目标接近、控制输入和平滑性；约束部分负责安全性和视觉接触。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由于HOCBF约束依赖预测轨迹，原问题非线性较强，论文用线性近似和SQP提高求解效率。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2.5 优化问题结构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MPC-CBF的优化变量是预测控制输入，约束同时覆盖模型、连续性、CBF、安全边界和物理极限。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591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预测控制问题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43200"/>
            <a:ext cx="6656832" cy="353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(10a)    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min_U  J_cost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54680"/>
            <a:ext cx="6656832" cy="353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(10b)   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x_dot(t) = A x(t) + B u(t)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60"/>
            <a:ext cx="6656832" cy="353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(10e)    </a:t>
            </a:r>
            <a:r>
              <a:rPr sz="19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A_cbf u(t) + b_cbf(r_ij(t|t0)) &gt;=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977639"/>
            <a:ext cx="6656832" cy="353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(10f)    </a:t>
            </a: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a_min &lt;= u(t) &lt;= a_max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8704" y="2542032"/>
            <a:ext cx="3401568" cy="1901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约束分层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模型约束给出预测状态演化。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CBF约束负责可见性和避碰。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物理边界限制速度、加速度和控制输入。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4663440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TextBox 13"/>
          <p:cNvSpPr txBox="1"/>
          <p:nvPr/>
        </p:nvSpPr>
        <p:spPr>
          <a:xfrm>
            <a:off x="676656" y="4846320"/>
            <a:ext cx="10899648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连续性约束保证分段Bezier曲线在位置和高阶导数上平滑连接。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CBF约束用于视觉接触和避碰，物理约束限制速度与加速度范围。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远距离机器人可通过slack variables放松约束，避免邻居数量增加时优化不可行。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求解时每个周期只执行第一段控制输入，下一周期根据新的感知和邻居估计重新求解。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2.6 方法闭环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整体方法把视觉接触建模、CBF认证、预测控制和滚动执行连接成闭环。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993392" cy="932688"/>
          </a:xfrm>
          <a:prstGeom prst="roundRect">
            <a:avLst/>
          </a:prstGeom>
          <a:solidFill>
            <a:srgbClr val="F2F8FC"/>
          </a:solidFill>
          <a:ln>
            <a:solidFill>
              <a:srgbClr val="96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731519" y="2596896"/>
            <a:ext cx="184708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邻居估计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相对位置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不确定性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24912" y="2798064"/>
            <a:ext cx="292608" cy="219456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ounded Rectangle 9"/>
          <p:cNvSpPr/>
          <p:nvPr/>
        </p:nvSpPr>
        <p:spPr>
          <a:xfrm>
            <a:off x="2944368" y="2487168"/>
            <a:ext cx="1993392" cy="932688"/>
          </a:xfrm>
          <a:prstGeom prst="roundRect">
            <a:avLst/>
          </a:prstGeom>
          <a:solidFill>
            <a:srgbClr val="F2F8FC"/>
          </a:solidFill>
          <a:ln>
            <a:solidFill>
              <a:srgbClr val="96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3017520" y="2596896"/>
            <a:ext cx="184708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FOV/距离 CBF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可见集合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安全距离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10912" y="2798064"/>
            <a:ext cx="292608" cy="219456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ounded Rectangle 12"/>
          <p:cNvSpPr/>
          <p:nvPr/>
        </p:nvSpPr>
        <p:spPr>
          <a:xfrm>
            <a:off x="5230368" y="2487168"/>
            <a:ext cx="1993392" cy="932688"/>
          </a:xfrm>
          <a:prstGeom prst="roundRect">
            <a:avLst/>
          </a:prstGeom>
          <a:solidFill>
            <a:srgbClr val="F2F8FC"/>
          </a:solidFill>
          <a:ln>
            <a:solidFill>
              <a:srgbClr val="96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TextBox 13"/>
          <p:cNvSpPr txBox="1"/>
          <p:nvPr/>
        </p:nvSpPr>
        <p:spPr>
          <a:xfrm>
            <a:off x="5303520" y="2596896"/>
            <a:ext cx="184708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HOCBF 约束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控制输入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前向不变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96912" y="2798064"/>
            <a:ext cx="292608" cy="219456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ounded Rectangle 15"/>
          <p:cNvSpPr/>
          <p:nvPr/>
        </p:nvSpPr>
        <p:spPr>
          <a:xfrm>
            <a:off x="7516368" y="2487168"/>
            <a:ext cx="1993392" cy="932688"/>
          </a:xfrm>
          <a:prstGeom prst="roundRect">
            <a:avLst/>
          </a:prstGeom>
          <a:solidFill>
            <a:srgbClr val="E8F4FF"/>
          </a:solidFill>
          <a:ln>
            <a:solidFill>
              <a:srgbClr val="96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7589520" y="2596896"/>
            <a:ext cx="184708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MPC-CBF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采样时域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SQP 求解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582912" y="2798064"/>
            <a:ext cx="292608" cy="219456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ounded Rectangle 18"/>
          <p:cNvSpPr/>
          <p:nvPr/>
        </p:nvSpPr>
        <p:spPr>
          <a:xfrm>
            <a:off x="9802368" y="2487168"/>
            <a:ext cx="1993392" cy="932688"/>
          </a:xfrm>
          <a:prstGeom prst="roundRect">
            <a:avLst/>
          </a:prstGeom>
          <a:solidFill>
            <a:srgbClr val="F2F8FC"/>
          </a:solidFill>
          <a:ln>
            <a:solidFill>
              <a:srgbClr val="96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TextBox 19"/>
          <p:cNvSpPr txBox="1"/>
          <p:nvPr/>
        </p:nvSpPr>
        <p:spPr>
          <a:xfrm>
            <a:off x="9875520" y="2596896"/>
            <a:ext cx="184708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滚动执行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执行第一段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重新规划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87705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闭环含义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418795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>
            <a:off x="676656" y="4389120"/>
            <a:ext cx="10899648" cy="1901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CBF部分负责给出可认证安全条件，MPC部分负责在有限时域内生成可执行控制输入。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该闭环适合通信受限多机系统：感知来自本机视场，规划和控制在每个机器人本地完成。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工程难点集中在实时求解压力，以及检测噪声、延迟和模型不匹配对认证条件的影响。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因此该方法更像一个本地安全规划层，可与任务规划、邻居选择和感知置信度估计继续组合。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3.1 实验设置与评价指标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4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实验覆盖仿真规模扩展、采样间隔敏感性、检测噪声/延迟和两机实机飞行。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circle场景强调多机器人交叉绕行，formation场景强调编队保持和视觉接触。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798064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3072384"/>
          <a:ext cx="10497312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4160520"/>
                <a:gridCol w="4736592"/>
              </a:tblGrid>
              <a:tr h="3383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类别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设置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关注点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仿真规模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2-10 robots, circle / formation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成功率、makespan、FOV 维持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采样间隔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6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δ = 0.05 / 0.1 / 0.2 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认证精度与运行时间取舍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实机平台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60" b="1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PX4 UAV, Jetson Xavier, RealSense D435, Vicon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视觉接触约束和飞行可行性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94944" y="4718304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76656" y="4937760"/>
            <a:ext cx="10899648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评价指标包括task success rate、makespan和percentage of neighbors in FOV。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论文额外测试检测延迟、噪声和missed detections，用于验证通信受限感知闭环的鲁棒性。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实机实验只在x-y平面施加FOV约束，非平面运动和下洗扰动留作后续扩展。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3.2 Circle 场景轨迹过程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circle场景中，5台机器人在交叉任务中保持视觉接触并完成绕行。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蓝色曲线是预测输出，紫色扇形表示预测FOV，椭圆表示估计不确定性。</a:t>
            </a:r>
          </a:p>
        </p:txBody>
      </p:sp>
      <p:pic>
        <p:nvPicPr>
          <p:cNvPr id="7" name="Picture 6" descr="fig4_circle_snapshots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768096" y="2817064"/>
            <a:ext cx="5321808" cy="15896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55664" y="2633472"/>
            <a:ext cx="47548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该图展示了控制器在动态绕行中的连续调节。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机器人需要同时追踪目标、避开邻居并保持邻居进入FOV。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当估计不确定性扩大时，CBF约束会改变轨迹和朝向响应。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结果说明该方法不是只在静态可见条件下工作。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482803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76656" y="5047488"/>
            <a:ext cx="1089964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circle场景是更容易出现碰撞和视觉丢失的压力测试；成功轨迹表明MPC-CBF能在预测时域内协调FOV和避碰。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后续统计图进一步比较不同FOV角度 βH和slack衰减系数 γs下的规模扩展性能。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3.3 Circle 场景规模扩展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Fig.5统计了circle场景中不同机器人数量、视场角和slack参数下的性能。</a:t>
            </a:r>
          </a:p>
        </p:txBody>
      </p:sp>
      <p:pic>
        <p:nvPicPr>
          <p:cNvPr id="7" name="Picture 6" descr="fig5_circle_stats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2102802" y="2414016"/>
            <a:ext cx="3091307" cy="3639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67728" y="2487168"/>
            <a:ext cx="4297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MPC-CBF在更大规模下优于reactive baseline。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机器人数量增加后，baseline成功率更快下降。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较小 βH使保持邻居在视场内更困难，也更容易出现makespan增长。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较大的 γs会减少过激朝向调整，有助于提高成功率。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619963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76656" y="6345936"/>
            <a:ext cx="108996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主要结论：MPC-CBF在保持视觉接触比例的同时，提高了多机器人circle任务的完成可靠性。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3.4 Formation 场景结果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formation场景中机器人同向移动，任务更关注持续可见性和规模扩展。</a:t>
            </a:r>
          </a:p>
        </p:txBody>
      </p:sp>
      <p:pic>
        <p:nvPicPr>
          <p:cNvPr id="7" name="Picture 6" descr="fig6_formation_snapshots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770613" y="2542032"/>
            <a:ext cx="4256068" cy="1353312"/>
          </a:xfrm>
          <a:prstGeom prst="rect">
            <a:avLst/>
          </a:prstGeom>
        </p:spPr>
      </p:pic>
      <p:pic>
        <p:nvPicPr>
          <p:cNvPr id="8" name="Picture 7" descr="fig7_formation_stats_clean.png"/>
          <p:cNvPicPr>
            <a:picLocks noChangeAspect="1"/>
          </p:cNvPicPr>
          <p:nvPr/>
        </p:nvPicPr>
        <p:blipFill>
          <a:blip ns2:embed="rId4"/>
          <a:stretch>
            <a:fillRect/>
          </a:stretch>
        </p:blipFill>
        <p:spPr>
          <a:xfrm>
            <a:off x="1817659" y="4133087"/>
            <a:ext cx="2235129" cy="17922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2523744"/>
            <a:ext cx="541324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机器人形成并维持视觉接触，且不牺牲到达能力。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与circle相比，formation场景碰撞和死锁压力较低。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Baseline在全向FOV条件下反而会因估计不确定性导致更多碰撞。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MPC-CBF在不同机器人数量下保持较高成功率和可见性。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结果说明FOV约束不是被动限制，而是主动塑造了编队轨迹。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6126480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676656" y="6291072"/>
            <a:ext cx="10899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formation实验支持该方法在通信受限编队导航中的可扩展性。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3.5 采样间隔与检测退化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敏感性实验显示，采样间隔、检测延迟和噪声会影响FOV维持质量，但成功率仍保持稳定。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4672" y="2523744"/>
          <a:ext cx="48828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831"/>
                <a:gridCol w="1444752"/>
                <a:gridCol w="1353312"/>
              </a:tblGrid>
              <a:tr h="2487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方法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FOV 比例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Runtime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Baseline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92.98%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12.87 ms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MPC-CBF, Kr=1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90.87%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46.98 ms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MPC-CBF, δ=0.1s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98.01%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68.98 ms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2487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MPC-CBF, δ=0.2s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97.98%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57.57 ms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91072" y="2542032"/>
          <a:ext cx="4370832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444752"/>
                <a:gridCol w="1353312"/>
              </a:tblGrid>
              <a:tr h="2880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Setup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FOV 比例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Success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Delay=0.05s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91.52%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100%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Delay=0.2s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74.23%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100%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σnoise=0.2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97.29%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100%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94944" y="4059936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76656" y="4315968"/>
            <a:ext cx="526694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δ 越小，HOCBF约束采样越密，FOV约束更接近连续时间认证。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更密采样会提高运行时间，因此论文选择 δ=0.1s作为折中。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Kr=1缺少预测时域HOCBF约束，FOV维持能力明显变差。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4315968"/>
            <a:ext cx="517550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检测延迟会显著降低邻居处于FOV的比例，但实验成功率仍为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100%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噪声增大时FOV比例略有下降，表明CBF认证需要与估计不确定性共同设计。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这些结果暴露出实机部署中的关键风险：感知质量会影响安全集合判断。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3.6 两机实机实验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实机实验使用两架PX4-based UAV，在室内飞行中验证视觉接触约束。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第一视角图像中，另一架无人机在飞行过程中持续位于红圈标示区域内。</a:t>
            </a:r>
          </a:p>
        </p:txBody>
      </p:sp>
      <p:pic>
        <p:nvPicPr>
          <p:cNvPr id="7" name="Picture 6" descr="fig8_physical_fpv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768096" y="2673580"/>
            <a:ext cx="5614416" cy="21692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11696" y="2542032"/>
            <a:ext cx="4498848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实机验证同时也暴露出模型与感知限制。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多机实验中使用Vicon模拟相对检测，弱化了完全去通信的假设。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FOV约束只在x-y平面施加，3D扩展需要加入x-z平面约束。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四旋翼真实模型需要更高阶CLF-CBF处理姿态与动力学不匹配。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519379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76656" y="5413248"/>
            <a:ext cx="10899648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该实验更适合作为可行性验证：它证明轨迹和FOV控制能飞起来，但完整去通信实机系统仍需更强感知和状态估计。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实机系统还需要把onboard detection噪声、missed detections和外力扰动纳入安全集合建模。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04  结论与思考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4.1 结论与局限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4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本文把有限视场多机协同问题从“代价偏好”提升为“可认证安全约束”。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FOV、避碰和实时控制被统一到CBF/MPC-CBF框架中。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615184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749808" y="279806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方法结论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27248"/>
            <a:ext cx="5321808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FOV CBF保证邻居保持在可观测区域，安全距离CBF保证多机间隔。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HOCBF将高阶约束转成控制输入上的不等式，MPC-CBF负责实时近似求解。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CBF认证让视觉接触从软代价变成明确的安全集合条件。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79806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实验结论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3127248"/>
            <a:ext cx="5303520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仿真中方法可扩展到10台机器人，circle/formation场景均保持较高可靠性。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采样间隔 δ=0.1s在FOV维持比例和运行时间之间形成折中。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实机中完成两机视觉接触飞行，说明轨迹与控制闭环具备部署基础。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4992624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749808" y="51572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局限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5486400"/>
            <a:ext cx="10899648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1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实机多机实验仍借助Vicon模拟检测，尚未完全证明onboard perception-only闭环。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1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当前只处理平面FOV约束，非平面飞行和下洗扰动需要更高阶模型与控制认证。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1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CBF约束本身不解决全局任务死锁，仍需要与上层路径规划和邻居选择策略配合。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05  可借鉴方向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5.1 对无人机系统的启发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该方法面向通信受限、多机近距离协同和视觉保持任务提供了可认证建模路径。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核心思想是把感知可用性写进安全约束，而不是只在规划目标中弱化处理。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CBF认证可以作为学习式或优化式局部规划器外层的安全过滤器。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834640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749808" y="30358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可复用模块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64992"/>
            <a:ext cx="5230368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FOV CBF：适合视觉互定位、伴飞、协同搬运和目标跟踪。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MPC-CBF：适合作为局部轨迹生成器，处理短时域安全约束。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slack variables：可缓解邻居数量增加时的可行性问题。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30358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工程扩展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3364992"/>
            <a:ext cx="5230368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与onboard detector的置信度结合，使CBF使用概率安全边界。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扩展到3D FOV和真实四旋翼动力学，减少模型不匹配。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与任务层规划结合，避免CBF反应式行为导致局部死锁。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504748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676656" y="5266944"/>
            <a:ext cx="10899648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对于我们自己的无人机系统，可以把该方法作为“视觉可见性约束 +局部安全过滤”的参考框架。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真正落地时，感知延迟、漏检、标定误差和外力扰动需要和CBF约束一起建模。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749039" y="585216"/>
            <a:ext cx="4645152" cy="1289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94560"/>
            <a:ext cx="12191695" cy="2834640"/>
          </a:xfrm>
          <a:prstGeom prst="rect">
            <a:avLst/>
          </a:prstGeom>
          <a:solidFill>
            <a:srgbClr val="007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Box 3"/>
          <p:cNvSpPr txBox="1"/>
          <p:nvPr/>
        </p:nvSpPr>
        <p:spPr>
          <a:xfrm>
            <a:off x="0" y="3054096"/>
            <a:ext cx="1218895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谢谢！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0533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2026年5月8日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ep:Properties xmlns:ep="http://schemas.openxmlformats.org/officeDocument/2006/extended-properties" xmlns:vt="http://schemas.openxmlformats.org/officeDocument/2006/docPropsVTypes">
  <ep:TotalTime>0</ep:TotalTime>
  <ep:Words>0</ep:Words>
  <ep:Application>Microsoft PowerPoint</ep:Application>
  <ep:PresentationFormat>On-screen Show (4:3)</ep:PresentationFormat>
  <ep:Paragraphs>0</ep:Paragraphs>
  <ep:Slides>0</ep:Slides>
  <ep:Notes>0</ep:Notes>
  <ep:HiddenSlides>0</ep:HiddenSlides>
  <ep:MMClips>0</ep:MMClips>
  <ep:ScaleCrop>false</ep:ScaleCrop>
  <ep: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ep:HeadingPairs>
  <ep:TitlesOfParts>
    <vt:vector size="1" baseType="lpstr">
      <vt:lpstr>Office Theme</vt:lpstr>
    </vt:vector>
  </ep:TitlesOfParts>
  <ep:Manager/>
  <ep:Company/>
  <ep:LinksUpToDate>false</ep:LinksUpToDate>
  <ep:SharedDoc>false</ep:SharedDoc>
  <ep:HyperlinkBase/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Paper Report</dc:title>
  <dc:subject/>
  <dc:creator>paper2ppt</dc:creator>
  <cp:keywords/>
  <dc:description>generated using python-pptx</dc:description>
  <cp:lastModifiedBy>paper2ppt</cp:lastModifiedBy>
  <cp:revision>1</cp:revision>
  <dcterms:created xsi:type="dcterms:W3CDTF">2026-01-01T00:00:00Z</dcterms:created>
  <dcterms:modified xsi:type="dcterms:W3CDTF">2026-01-01T00:00:00Z</dcterms:modified>
  <cp:category/>
</cp:coreProperties>
</file>