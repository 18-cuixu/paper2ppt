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384048" y="2578608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Optimal Trajectory Planning for Cooperative Manipulation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with Multiple Quadrotors Using CBFs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Pallar, Li, Sarvaiya and Loianno / arXiv:2503.10695v2 /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多机缆绳搬运的规划难点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5559552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论文研究多架四旋翼通过缆绳协同搬运刚体载荷，并在狭窄障碍环境中生成安全轨迹。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系统包含四旋翼、缆绳和</a:t>
            </a:r>
            <a:r>
              <a:rPr sz="17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六自由度</a:t>
            </a:r>
            <a:r>
              <a:rPr sz="17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载荷，碰撞对象不再只是单个机体。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载荷由缆绳张力间接驱动，规划载荷姿态会改变每根缆绳方向和四旋翼位置。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狭窄门洞要求系统整体旋转穿越，传统点质量避障难以覆盖载荷边角和缆绳。</a:t>
            </a:r>
          </a:p>
        </p:txBody>
      </p:sp>
      <p:pic>
        <p:nvPicPr>
          <p:cNvPr id="7" name="Picture 6" descr="fig1_real_gap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587025" y="1609344"/>
            <a:ext cx="4327565" cy="268833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94944" y="451713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" y="484632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3 UAVs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24865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55040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三机缆绳载荷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484632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6 DoF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8640" y="524865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载荷状态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640" y="555040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位置与姿态同时规划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1167" y="484632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1167" y="524865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反馈频率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1167" y="555040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Vicon 实验闭环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6053328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本文将复杂外形、窄通道和动力学耦合统一到安全轨迹规划问题中，在狭窄环境中生成可执行轨迹。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已有方法难以同时处理整体几何与动态可行性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1700784"/>
          <a:ext cx="1080820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468880"/>
                <a:gridCol w="2907792"/>
                <a:gridCol w="3374136"/>
              </a:tblGrid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方法类别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常见假设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主要不足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本文处理方式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RRT*/DMP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简化障碍或固定队形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仿真简单，难覆盖载荷-缆绳整体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连续优化 + CBF 约束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势场/避障控制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偏重局部反应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容易保守或陷入局部构型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全局参考路径缓解局部极小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CLF/CBF 控制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只约束邻近机器人或点模型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未覆盖载荷、缆绳和四旋翼整体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多组件 convex polytope 建模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94944" y="404164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" y="4279392"/>
            <a:ext cx="10881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8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本文将“整个搬运系统的最小距离”定义为</a:t>
            </a:r>
            <a:r>
              <a:rPr sz="18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安全函数，而不是仅约束载荷中心或单架无人机。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7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7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7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给出前向不变性的安全约束，对偶形式把点到凸多面体距离转成可嵌入优化的问题。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4"/>
              </a:spcAft>
            </a:pPr>
            <a:r>
              <a:rPr sz="17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A* </a:t>
            </a:r>
            <a:r>
              <a:rPr sz="17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7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只提供粗路径，局部优化仍负责载荷姿态、缆绳方向和四旋翼位置。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669280"/>
            <a:ext cx="329793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6071616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避障对象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6373368"/>
            <a:ext cx="32979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payload/cables/quadrotors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5216" y="5669280"/>
            <a:ext cx="329793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5216" y="6071616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安全表达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5216" y="6373368"/>
            <a:ext cx="32979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距离安全集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880" y="5669280"/>
            <a:ext cx="3297936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A*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2880" y="6071616"/>
            <a:ext cx="3297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参考路径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2880" y="6373368"/>
            <a:ext cx="32979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避免局部极小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论文贡献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核心贡献是把协同搬运的复杂几何、安全约束和非线性动力学统一到可在线求解的轨迹规划框架中。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0545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74320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系统建模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327355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载荷、缆绳和四旋翼均用几何体表达，规划变量包含载荷位姿、速度、力和力矩。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缆绳张力通过wrench mapping联系到载荷动力学。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CBF 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27355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使用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convex polytopes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表示载荷、障碍物和四旋翼-缆绳组合。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通过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Duality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theorem将距离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变为等价的优化不等式。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274320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实验验证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3108960"/>
            <a:ext cx="327355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在6个仿真环境中测试随机起终点，加入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后成功率均为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三机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通过狭窄门洞，轨迹跟踪显示载荷姿态调整有效。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495604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56" y="5212080"/>
            <a:ext cx="108996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本文把规划目标从“到达目标点”扩展为“在优化过程中保持系统不进入障碍集合”。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载荷外形与缆绳几何直接进入安全约束，避免点模型或球模型漏掉边角碰撞。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系统约定与缆绳载荷模型</a:t>
            </a:r>
          </a:p>
        </p:txBody>
      </p:sp>
      <p:pic>
        <p:nvPicPr>
          <p:cNvPr id="6" name="Picture 5" descr="fig2_system_conventio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49808" y="1648911"/>
            <a:ext cx="4572000" cy="251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79008" y="1627632"/>
            <a:ext cx="543153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系统由n架四旋翼通过缆绳牵引刚体载荷。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I、L、Bk分别表示世界坐标系、载荷坐标系和第k架四旋翼机体系。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ρk是载荷上的连接点，ξk表示缆绳方向，μk表示第k根缆绳张力。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载荷姿态改变会同时改变所有连接点和四旋翼的位置。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43159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TH_LABEL"/>
          <p:cNvSpPr txBox="1"/>
          <p:nvPr/>
        </p:nvSpPr>
        <p:spPr>
          <a:xfrm>
            <a:off x="914400" y="4572000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700784" y="4572000"/>
            <a:ext cx="6309359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[ 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q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]</a:t>
            </a:r>
            <a:r>
              <a:rPr sz="1512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  V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[ 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dot, Ω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]</a:t>
            </a:r>
            <a:r>
              <a:rPr sz="1512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" name="MATH_LABEL"/>
          <p:cNvSpPr txBox="1"/>
          <p:nvPr/>
        </p:nvSpPr>
        <p:spPr>
          <a:xfrm>
            <a:off x="914400" y="5010912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12" name="MATH_BODY"/>
          <p:cNvSpPr txBox="1"/>
          <p:nvPr/>
        </p:nvSpPr>
        <p:spPr>
          <a:xfrm>
            <a:off x="1700784" y="5010912"/>
            <a:ext cx="6309359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dot = [ 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dot, 1/2 q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⊗ Ω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]</a:t>
            </a:r>
            <a:r>
              <a:rPr sz="1512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" name="MATH_LABEL"/>
          <p:cNvSpPr txBox="1"/>
          <p:nvPr/>
        </p:nvSpPr>
        <p:spPr>
          <a:xfrm>
            <a:off x="914400" y="5449824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1700784" y="5449824"/>
            <a:ext cx="6309359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ddot = F - m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g,    J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Ω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dot = M - Ω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J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498848"/>
            <a:ext cx="2980944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规划器实际控制的是载荷所受合力F与力矩M。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缆绳张力再由力/力矩反推得到。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载荷 wrench 与缆绳张力映射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每根缆绳张力共同决定载荷上的合力与力矩，因此规划载荷运动等价于规划一组满足几何约束的张力。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4871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H_LABEL"/>
          <p:cNvSpPr txBox="1"/>
          <p:nvPr/>
        </p:nvSpPr>
        <p:spPr>
          <a:xfrm>
            <a:off x="896112" y="272491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(4)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1682495" y="2724912"/>
            <a:ext cx="7278624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 = Σ μ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   M = Σ ρ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R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μ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896112" y="318211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(5)</a:t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1682495" y="3182112"/>
            <a:ext cx="7278624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R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 = Σ μ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2" name="MATH_LABEL"/>
          <p:cNvSpPr txBox="1"/>
          <p:nvPr/>
        </p:nvSpPr>
        <p:spPr>
          <a:xfrm>
            <a:off x="896112" y="363931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</a:t>
            </a:r>
          </a:p>
        </p:txBody>
      </p:sp>
      <p:sp>
        <p:nvSpPr>
          <p:cNvPr id="13" name="MATH_BODY"/>
          <p:cNvSpPr txBox="1"/>
          <p:nvPr/>
        </p:nvSpPr>
        <p:spPr>
          <a:xfrm>
            <a:off x="1682495" y="3639312"/>
            <a:ext cx="7278624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[ F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; M ] = P μ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   μ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[ μ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... μ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]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4" name="MATH_LABEL"/>
          <p:cNvSpPr txBox="1"/>
          <p:nvPr/>
        </p:nvSpPr>
        <p:spPr>
          <a:xfrm>
            <a:off x="896112" y="409651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(8)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1682495" y="4096512"/>
            <a:ext cx="7278624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μ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P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(P P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-1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2724912"/>
            <a:ext cx="2249424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P将所有缆绳张力映射到载荷六维wrench。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张力方向决定四旋翼相对载荷的位置。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该耦合是避障约束必须覆盖缆绳与四旋翼的根本原因。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486460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4672" y="5084064"/>
          <a:ext cx="10497311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4169663"/>
                <a:gridCol w="5084064"/>
              </a:tblGrid>
              <a:tr h="2788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变量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技术含义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与安全规划的关系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Wᒪ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载荷坐标系下的合力与力矩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决定载荷六自由度运动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缆绳张力到 wrench 的映射矩阵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把每根缆绳耦合到载荷姿态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μᒪ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所有缆绳张力的堆叠向量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4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反推出四旋翼与缆绳几何位置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几何包络：载荷、缆绳与无人机统一成凸多面体</a:t>
            </a:r>
          </a:p>
        </p:txBody>
      </p:sp>
      <p:pic>
        <p:nvPicPr>
          <p:cNvPr id="6" name="Picture 5" descr="fig3_polytop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49808" y="1671012"/>
            <a:ext cx="4809744" cy="27661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7024" y="1627632"/>
            <a:ext cx="5413248" cy="2688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论文用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convex polytopes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近似系统组件。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载荷在自身坐标系L中定义固定多面体。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每个四旋翼与对应缆绳被包络为一个长方体多面体。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障碍物也表达为线性不等式Ay ≤ B，便于统一求距离。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464515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TH_LABEL"/>
          <p:cNvSpPr txBox="1"/>
          <p:nvPr/>
        </p:nvSpPr>
        <p:spPr>
          <a:xfrm>
            <a:off x="896112" y="491947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(20)</a:t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682495" y="4919472"/>
            <a:ext cx="6473952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QC,k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[ (e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ξ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× ξ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 -e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× ξ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,  -ξ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]</a:t>
            </a:r>
          </a:p>
        </p:txBody>
      </p:sp>
      <p:sp>
        <p:nvSpPr>
          <p:cNvPr id="11" name="MATH_LABEL"/>
          <p:cNvSpPr txBox="1"/>
          <p:nvPr/>
        </p:nvSpPr>
        <p:spPr>
          <a:xfrm>
            <a:off x="896112" y="5376672"/>
            <a:ext cx="658368" cy="393192"/>
          </a:xfrm>
          <a:prstGeom prst="rect">
            <a:avLst/>
          </a:prstGeom>
          <a:noFill/>
        </p:spPr>
      </p:sp>
      <p:sp>
        <p:nvSpPr>
          <p:cNvPr id="12" name="MATH_BODY"/>
          <p:cNvSpPr txBox="1"/>
          <p:nvPr/>
        </p:nvSpPr>
        <p:spPr>
          <a:xfrm>
            <a:off x="1682495" y="5376672"/>
            <a:ext cx="6473952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QC,k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x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R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ρ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l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ξ</a:t>
            </a:r>
            <a:r>
              <a:rPr sz="1476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/2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4864608"/>
            <a:ext cx="283464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局部坐标系QCk沿缆绳方向建立，长方体包络覆盖缆绳和机体旋翼范围。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轨迹优化问题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规划器在固定预测时域内同时优化系统状态序列和输入序列。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4871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H_LABEL"/>
          <p:cNvSpPr txBox="1"/>
          <p:nvPr/>
        </p:nvSpPr>
        <p:spPr>
          <a:xfrm>
            <a:off x="896112" y="2779776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(12a)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1682495" y="2779776"/>
            <a:ext cx="726033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X,U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Σ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i=0</a:t>
            </a:r>
            <a:r>
              <a:rPr sz="1540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N-1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h(X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U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+ h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896112" y="3255264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(12b)</a:t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1682495" y="3255264"/>
            <a:ext cx="726033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s.t.    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i+1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f(X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U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2" name="MATH_LABEL"/>
          <p:cNvSpPr txBox="1"/>
          <p:nvPr/>
        </p:nvSpPr>
        <p:spPr>
          <a:xfrm>
            <a:off x="896112" y="3730752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(12c)</a:t>
            </a:r>
          </a:p>
        </p:txBody>
      </p:sp>
      <p:sp>
        <p:nvSpPr>
          <p:cNvPr id="13" name="MATH_BODY"/>
          <p:cNvSpPr txBox="1"/>
          <p:nvPr/>
        </p:nvSpPr>
        <p:spPr>
          <a:xfrm>
            <a:off x="1682495" y="3730752"/>
            <a:ext cx="726033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X(t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   g(X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U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≤ 0</a:t>
            </a:r>
          </a:p>
        </p:txBody>
      </p:sp>
      <p:sp>
        <p:nvSpPr>
          <p:cNvPr id="14" name="MATH_LABEL"/>
          <p:cNvSpPr txBox="1"/>
          <p:nvPr/>
        </p:nvSpPr>
        <p:spPr>
          <a:xfrm>
            <a:off x="896112" y="4206240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(13)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1682495" y="4206240"/>
            <a:ext cx="726033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XN</a:t>
            </a:r>
            <a:r>
              <a:rPr sz="1540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XN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XN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Σ(e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Xi</a:t>
            </a:r>
            <a:r>
              <a:rPr sz="1540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Ui</a:t>
            </a:r>
            <a:r>
              <a:rPr sz="1540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540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Ui</a:t>
            </a:r>
            <a:r>
              <a:rPr sz="21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779776"/>
            <a:ext cx="2212848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状态X包含载荷位姿、速度、合力和力矩。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输入U是合力和力矩的时间导数。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目标项约束终端姿态，同时惩罚状态和输入偏差。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515721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4672" y="5376672"/>
          <a:ext cx="10497312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/>
                <a:gridCol w="3913632"/>
                <a:gridCol w="5138928"/>
              </a:tblGrid>
              <a:tr h="23774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模块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作用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对搬运系统的意义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 X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载荷位姿、速度、合力和力矩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让轨迹同时满足姿态与动力学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输入 U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合力和力矩的时间导数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约束控制变化，避免张力突变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A* 参考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只给载荷位置粗路径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局部优化补齐载荷姿态和缆绳张力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距离 CBF：把障碍物安全距离写成前向不变条件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83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的安全函数h(X) 用系统多面体与障碍物多面体之间的最小距离定义。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h(X) ≥ 0表示当前系统组件距离障碍物至少dsafe。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9689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H_LABEL"/>
          <p:cNvSpPr txBox="1"/>
          <p:nvPr/>
        </p:nvSpPr>
        <p:spPr>
          <a:xfrm>
            <a:off x="896112" y="2889504"/>
            <a:ext cx="658368" cy="4875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(14)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1682495" y="2889504"/>
            <a:ext cx="7095743" cy="4875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h(X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≥ γ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h(X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),     0 ≤ γ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&lt; 1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896112" y="3456432"/>
            <a:ext cx="658368" cy="4875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(15a)</a:t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1682495" y="3456432"/>
            <a:ext cx="7095743" cy="4875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h(X) = min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yL,yobs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|| y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y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||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d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safe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MATH_LABEL"/>
          <p:cNvSpPr txBox="1"/>
          <p:nvPr/>
        </p:nvSpPr>
        <p:spPr>
          <a:xfrm>
            <a:off x="896112" y="4023360"/>
            <a:ext cx="658368" cy="4875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(15b)</a:t>
            </a:r>
          </a:p>
        </p:txBody>
      </p:sp>
      <p:sp>
        <p:nvSpPr>
          <p:cNvPr id="13" name="MATH_BODY"/>
          <p:cNvSpPr txBox="1"/>
          <p:nvPr/>
        </p:nvSpPr>
        <p:spPr>
          <a:xfrm>
            <a:off x="1682495" y="4023360"/>
            <a:ext cx="7095743" cy="4875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(X)y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≤ 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(X),    A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≤ 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907792"/>
            <a:ext cx="2578608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γi：裕度收缩率。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h(X)≥0：处于安全集。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递推：保持前向不变。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" y="473659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04672" y="4992624"/>
          <a:ext cx="1049731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2834640"/>
                <a:gridCol w="6089904"/>
              </a:tblGrid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对象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约束形式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解释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hL(X) ≥ 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载荷多面体与障碍物保持 dsafe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四旋翼-缆绳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hQC,k(X) ≥ 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每根缆绳和机体外形也进入距离约束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预测步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h(Xi+1) ≥ γi h(Xi)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安全裕度按 γi 收缩，轨迹保持在安全集合内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对偶约束：把最小距离计算嵌入轨迹优化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为了避免在优化中嵌套求最小距离，论文用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Duality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theorem推导等价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46888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H_LABEL"/>
          <p:cNvSpPr txBox="1"/>
          <p:nvPr/>
        </p:nvSpPr>
        <p:spPr>
          <a:xfrm>
            <a:off x="896112" y="2761488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(16a)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1682495" y="2761488"/>
            <a:ext cx="7278624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g(X) = max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λL,λobs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-λ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λ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(X)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896112" y="3200400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(16b)</a:t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1682495" y="3200400"/>
            <a:ext cx="7278624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λ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(X) = 0</a:t>
            </a:r>
          </a:p>
        </p:txBody>
      </p:sp>
      <p:sp>
        <p:nvSpPr>
          <p:cNvPr id="12" name="MATH_LABEL"/>
          <p:cNvSpPr txBox="1"/>
          <p:nvPr/>
        </p:nvSpPr>
        <p:spPr>
          <a:xfrm>
            <a:off x="896112" y="3639312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(16c)</a:t>
            </a:r>
          </a:p>
        </p:txBody>
      </p:sp>
      <p:sp>
        <p:nvSpPr>
          <p:cNvPr id="13" name="MATH_BODY"/>
          <p:cNvSpPr txBox="1"/>
          <p:nvPr/>
        </p:nvSpPr>
        <p:spPr>
          <a:xfrm>
            <a:off x="1682495" y="3639312"/>
            <a:ext cx="7278624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λ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≥ 0,   λ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≥ 0,   ||λ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* A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≤ 1</a:t>
            </a:r>
          </a:p>
        </p:txBody>
      </p:sp>
      <p:sp>
        <p:nvSpPr>
          <p:cNvPr id="14" name="MATH_LABEL"/>
          <p:cNvSpPr txBox="1"/>
          <p:nvPr/>
        </p:nvSpPr>
        <p:spPr>
          <a:xfrm>
            <a:off x="896112" y="4078224"/>
            <a:ext cx="658368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(18a)</a:t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1682495" y="4078224"/>
            <a:ext cx="7278624" cy="377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-λ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λ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97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i+1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≥ γ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h(X</a:t>
            </a:r>
            <a:r>
              <a:rPr sz="1497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0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2761488"/>
            <a:ext cx="221284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λ 为对偶变量，刻画多面体间距离。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凸问题满足强对偶，g(X)=h(X)。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转换后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进入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MPC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490118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4672" y="5120640"/>
          <a:ext cx="10497311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/>
                <a:gridCol w="4261104"/>
                <a:gridCol w="4151376"/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转换对象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处理结果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进入优化的形式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多面体距离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强对偶改写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有限维 CBF 不等式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系统几何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 / 缆绳 / 障碍物统一表达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polytope 约束随状态更新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2.7 指数 CBF 与松弛变量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指数</a:t>
            </a:r>
            <a:r>
              <a:rPr sz="18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用初始安全函数h(X0) 作为参考，并通过 αi缓解严格约束导致的不可行。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当环境狭窄或初始状态接近障碍物时，松弛变量能让求解器找到可恢复的轨迹。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9689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ATH_LABEL"/>
          <p:cNvSpPr txBox="1"/>
          <p:nvPr/>
        </p:nvSpPr>
        <p:spPr>
          <a:xfrm>
            <a:off x="896112" y="3054096"/>
            <a:ext cx="658368" cy="4561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(19)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1682495" y="3054096"/>
            <a:ext cx="8906256" cy="456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-λ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- λ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i+1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≥ α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Π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j=0</a:t>
            </a:r>
            <a:r>
              <a:rPr sz="1584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γ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h(X</a:t>
            </a:r>
            <a:r>
              <a:rPr sz="158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2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896112" y="3584448"/>
            <a:ext cx="658368" cy="456102"/>
          </a:xfrm>
          <a:prstGeom prst="rect">
            <a:avLst/>
          </a:prstGeom>
          <a:noFill/>
        </p:spPr>
      </p:sp>
      <p:sp>
        <p:nvSpPr>
          <p:cNvPr id="11" name="MATH_BODY"/>
          <p:cNvSpPr txBox="1"/>
          <p:nvPr/>
        </p:nvSpPr>
        <p:spPr>
          <a:xfrm>
            <a:off x="1682495" y="3584448"/>
            <a:ext cx="8906256" cy="456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α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与状态、输入一起优化，h(X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每次 MPC 重规划时重新计算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" y="4133087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4672" y="4370832"/>
          <a:ext cx="10497312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846320"/>
                <a:gridCol w="4370832"/>
              </a:tblGrid>
              <a:tr h="3246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项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含义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工程影响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Πγj h(X0)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以初始安全裕度为基准，随预测步逐渐收缩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避免每一步都只看局部瞬时距离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αi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与状态和输入一起优化的松弛变量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狭窄门洞附近减少不可行，安全裕度退化由 αi 反映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X0 重算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每次 MPC 重规划重新计算初始安全函数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反馈状态变化后安全边界同步更新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6656" y="5815584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在载荷先旋转再穿越狭窄区域时，指数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给出从当前安全裕度逐步恢复的优化目标。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2.8 在线规划流程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在线阶段以当前状态为初值，反复求解带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约束的有限时域优化问题。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46888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G_BOX"/>
          <p:cNvSpPr/>
          <p:nvPr/>
        </p:nvSpPr>
        <p:spPr>
          <a:xfrm>
            <a:off x="822960" y="2907792"/>
            <a:ext cx="1600200" cy="713232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当前状态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X(t0)</a:t>
            </a:r>
          </a:p>
        </p:txBody>
      </p:sp>
      <p:sp>
        <p:nvSpPr>
          <p:cNvPr id="9" name="DIAG_BOX"/>
          <p:cNvSpPr/>
          <p:nvPr/>
        </p:nvSpPr>
        <p:spPr>
          <a:xfrm>
            <a:off x="2743200" y="2907792"/>
            <a:ext cx="1645920" cy="713232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A* 参考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载荷路径</a:t>
            </a:r>
          </a:p>
        </p:txBody>
      </p:sp>
      <p:sp>
        <p:nvSpPr>
          <p:cNvPr id="10" name="DIAG_BOX"/>
          <p:cNvSpPr/>
          <p:nvPr/>
        </p:nvSpPr>
        <p:spPr>
          <a:xfrm>
            <a:off x="4754880" y="2788920"/>
            <a:ext cx="2029968" cy="713232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MPC 优化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X0...XN, U0...UN-1</a:t>
            </a:r>
          </a:p>
        </p:txBody>
      </p:sp>
      <p:sp>
        <p:nvSpPr>
          <p:cNvPr id="11" name="DIAG_BOX"/>
          <p:cNvSpPr/>
          <p:nvPr/>
        </p:nvSpPr>
        <p:spPr>
          <a:xfrm>
            <a:off x="7260336" y="2907792"/>
            <a:ext cx="1755648" cy="713232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CBF 约束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多面体避障</a:t>
            </a:r>
          </a:p>
        </p:txBody>
      </p:sp>
      <p:sp>
        <p:nvSpPr>
          <p:cNvPr id="12" name="DIAG_BOX"/>
          <p:cNvSpPr/>
          <p:nvPr/>
        </p:nvSpPr>
        <p:spPr>
          <a:xfrm>
            <a:off x="9400032" y="2907792"/>
            <a:ext cx="1591056" cy="713232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执行首个输入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重规划</a:t>
            </a:r>
          </a:p>
        </p:txBody>
      </p:sp>
      <p:cxnSp>
        <p:nvCxnSpPr>
          <p:cNvPr id="13" name="DIAG_CONN"/>
          <p:cNvCxnSpPr/>
          <p:nvPr/>
        </p:nvCxnSpPr>
        <p:spPr>
          <a:xfrm>
            <a:off x="2423160" y="3264408"/>
            <a:ext cx="320040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IAG_CONN"/>
          <p:cNvCxnSpPr/>
          <p:nvPr/>
        </p:nvCxnSpPr>
        <p:spPr>
          <a:xfrm>
            <a:off x="4389120" y="3264408"/>
            <a:ext cx="365760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IAG_CONN"/>
          <p:cNvCxnSpPr/>
          <p:nvPr/>
        </p:nvCxnSpPr>
        <p:spPr>
          <a:xfrm>
            <a:off x="6784848" y="3264408"/>
            <a:ext cx="475488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IAG_CONN"/>
          <p:cNvCxnSpPr/>
          <p:nvPr/>
        </p:nvCxnSpPr>
        <p:spPr>
          <a:xfrm>
            <a:off x="9015984" y="3264408"/>
            <a:ext cx="384048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" y="415137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4672" y="4370832"/>
          <a:ext cx="1049731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056"/>
                <a:gridCol w="4352544"/>
                <a:gridCol w="4553712"/>
              </a:tblGrid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步骤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输入/输出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作用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状态反馈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X(t0)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固定优化初值，闭环更新预测问题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障碍筛选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距离小于 0.6 m 的活跃障碍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减少无关 CBF 约束数量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MPC 执行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只执行第一个控制输入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滚动重规划，吸收跟踪误差和状态变化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76656" y="5724144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论文报告单次求解约9-15 s，当前实现对应轨迹生成和低频重规划；高速在线避障受求解速度限制。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仿真与实机设置</a:t>
            </a:r>
          </a:p>
        </p:txBody>
      </p:sp>
      <p:pic>
        <p:nvPicPr>
          <p:cNvPr id="6" name="Picture 5" descr="fig5_block_diagram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749808" y="1690346"/>
            <a:ext cx="5358384" cy="186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5392" y="1627632"/>
            <a:ext cx="4645152" cy="2139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实验采用RotorTM仿真和三机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验证。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空间为10×6×4 m，Vicon以100 Hz提供载荷、连接点和无人机反馈。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载荷为196 g三角形平台，由3架四旋翼通过缆绳连接。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402336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2688" y="4334256"/>
            <a:ext cx="331622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25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736592"/>
            <a:ext cx="3316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预测时域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038344"/>
            <a:ext cx="33162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CasADi 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4334256"/>
            <a:ext cx="331622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0.6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8640" y="4736592"/>
            <a:ext cx="3316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障碍筛选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640" y="5038344"/>
            <a:ext cx="33162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只保留近距离障碍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4592" y="4334256"/>
            <a:ext cx="331622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7.5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4592" y="4736592"/>
            <a:ext cx="3316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实机膨胀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4592" y="5038344"/>
            <a:ext cx="33162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补偿环境不确定性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5595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系统框图显示规划器输出期望载荷状态，控制器再分配缆绳张力并生成每架无人机的控制命令。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仿真环境中的轨迹生成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仿真环境包含多种窄通道、扭曲通道和随机障碍，用于测试规划器的局部几何适应能力。</a:t>
            </a:r>
          </a:p>
        </p:txBody>
      </p:sp>
      <p:pic>
        <p:nvPicPr>
          <p:cNvPr id="7" name="Picture 6" descr="fig4_sim_envs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204395" y="2267712"/>
            <a:ext cx="5290457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2414016"/>
            <a:ext cx="3822191" cy="2706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轨迹显示载荷会主动旋转以通过狭窄区域。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蓝色障碍物附近，系统通过改变载荷姿态和缆绳方向保持整体安全距离。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该行为来自载荷外形、缆绳方向和四旋翼位置的联合规划，单点避障模型难以生成相同姿态变化。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576072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" y="5925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仿真结果表明，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约束能在复杂几何中维持全系统碰撞安全，而不只是约束载荷中心。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全局参考路径显著提升规划成功率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1664208"/>
          <a:ext cx="541324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92224"/>
                <a:gridCol w="1883664"/>
              </a:tblGrid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Environment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Global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Global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3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5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ENV 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8C4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38544" y="1755648"/>
            <a:ext cx="4608576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没有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时，优化器容易陷入局部最优或不可恢复状态。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ENV 5中无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的成功率为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0%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，局部优化未能找到绕行拓扑。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加入粗路径后，6个环境全部达到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100%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成功率。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43159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0976" y="4608576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6/6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5010912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环境成功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312664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加入全局参考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4736" y="4608576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4736" y="5010912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随机任务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4736" y="5312664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每个环境起终点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8495" y="4608576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8495" y="5010912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最高成功率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8495" y="5312664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所有环境均达到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797296"/>
            <a:ext cx="108813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结果表明，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MPC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主要负责局部安全与动态可行性；全局路径仍是避免拓扑死锁的必要条件。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三机实机：载荷姿态调整穿越狭窄门洞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3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8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83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轨迹跟踪图记录载荷位置和姿态在穿越窄缝时的变化。</a:t>
            </a:r>
          </a:p>
        </p:txBody>
      </p:sp>
      <p:pic>
        <p:nvPicPr>
          <p:cNvPr id="7" name="Picture 6" descr="fig6_tracking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2035699" y="2432304"/>
            <a:ext cx="5164040" cy="2761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2468880"/>
            <a:ext cx="2395728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约0.05 s处虚线对应载荷开始进入窄缝。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roll、pitch、yaw均出现明显调整，用于让载荷姿态对齐通道。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位置跟踪误差整体可控，轨迹能够由下层控制器执行。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543153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" y="5669280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结果表明，规划器生成了包含载荷姿态变化的避障轨迹，而不是仅让载荷中心通过门洞。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3.5 实验结果的含义与边界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64208"/>
            <a:ext cx="52303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仿真验证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MPC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组合有效。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全局参考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负责拓扑方向，避免狭窄环境中的局部极小。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MPC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负责在参考附近生成满足系统几何和动力学的安全轨迹。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664208"/>
            <a:ext cx="51023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7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7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验证方法具备物理可执行性。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系统能通过旋转载荷穿越窄缝，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三架四旋翼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协调调整位置。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实验仍依赖Vicon和较慢的重规划速度，离完全机载实时部署还有差距。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" y="34015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675887"/>
          <a:ext cx="10369296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4151376"/>
                <a:gridCol w="4791456"/>
              </a:tblGrid>
              <a:tr h="33375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维度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已验证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仍需改进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安全几何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payload/cable/quadrotor 整体避障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动态障碍与非凸障碍组合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动力学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载荷六自由度与缆绳张力映射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DC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更快求解与机载算力约束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实验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三机实机穿越窄缝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6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去 Vicon、强扰动和长航时任务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" y="5321808"/>
            <a:ext cx="108813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本文完成了可认证轨迹规划框架的验证，机载实时部署仍受感知和求解速度限制。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方法局限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9964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主要局限来自求解速度、环境假设和感知闭环。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4871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" y="2724912"/>
            <a:ext cx="5230368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论文报告CasADi单次求解约9-15 s，当前速度对应轨迹生成与低频重规划，不满足高速在线避障。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障碍物用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convex polytopes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表达，复杂非凸环境需要分解或近似，可能带来约束数量增长。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约束能保持局部安全，但不能单独解决全局可达性和任务级死锁。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724912"/>
            <a:ext cx="5138928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实机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依赖Vicon反馈，尚未展示仅凭机载视觉估计载荷、缆绳和障碍物几何。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松弛变量提升可行性，但安全边界退化会反映为 αi的变化。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动态障碍和强扰动尚未在该框架中完整闭环处理。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488289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517550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9-15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57784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求解时间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79592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偏离高速实时控制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4736" y="517550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Vicon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6" y="557784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5879592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未完全机载感知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8495" y="517550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8495" y="557784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局部安全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8495" y="5879592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仍需全局参考路径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4.2 方法可迁移性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9964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8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本文的建模方式是把系统外形直接写入安全约束。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7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对多无人机协同任务，危险往往发生在连接结构、载荷边角或队形外缘，而不是机体中心。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61518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285292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可迁移环节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182112"/>
            <a:ext cx="519379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无人机队形、载荷或吊挂物可用convex hull / polytope表达外轮廓。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可作为学习式规划器或采样规划器之后的安全约束层。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全局粗路径给出拓扑方向，局部优化负责安全与动力学可行性。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85292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工程限制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3182112"/>
            <a:ext cx="519379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实时性受求解器速度影响，可通过warm start、稀疏约束和并行求解改善。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机载感知误差会直接影响h(X) 的安全判断。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2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松弛变量对应安全边界退化，应与故障检测或保守停机策略配合。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" y="502920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6656" y="5266944"/>
            <a:ext cx="108813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对协同搬运、近距离编队和带载避障任务，该框架提供了系统级几何安全约束的建模路径。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1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工程验证重点包括约束构造、求解时间以及感知误差对安全函数h(X) 的影响。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4.3 汇报总结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6384" y="1664208"/>
          <a:ext cx="10625328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803904"/>
                <a:gridCol w="3758184"/>
              </a:tblGrid>
              <a:tr h="6675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问题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核心方法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实验结论</a:t>
                      </a:r>
                    </a:p>
                  </a:txBody>
                  <a:tcPr marL="27432" marR="27432" marT="13716" marB="13716" anchor="ctr">
                    <a:solidFill>
                      <a:srgbClr val="F2F2F2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多四旋翼通过缆绳搬运载荷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载荷动力学 + 缆绳张力映射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三机实机能穿越窄缝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系统整体避障而非点避障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convex polytopes + CBF 距离约束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仿真中全局参考后成功率 100%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复杂几何导致优化困难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Duality theorem 转换距离约束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38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仍受求解速度和感知闭环限制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94944" y="464515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76656" y="4901184"/>
            <a:ext cx="1088136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本文把协同搬运系统的几何外形和动力学耦合写入</a:t>
            </a:r>
            <a:r>
              <a:rPr sz="18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CBF</a:t>
            </a: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8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MPC</a:t>
            </a:r>
            <a:r>
              <a:rPr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，使载荷、缆绳和四旋翼作为整体穿越障碍。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7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方法贡献集中在安全约束建模，工程部署受求解速度、感知可靠性和实时闭环实现限制。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