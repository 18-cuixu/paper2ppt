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3" Type="http://schemas.openxmlformats.org/package/2006/relationships/metadata/core-properties" Target="docProps/core.xml" /><ns0:Relationship Id="rId4" Type="http://schemas.openxmlformats.org/officeDocument/2006/relationships/extended-properties" Target="docProps/app.xml" /></ns0: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3749039" y="594360"/>
            <a:ext cx="4645152" cy="1289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212848"/>
            <a:ext cx="12191695" cy="2852928"/>
          </a:xfrm>
          <a:prstGeom prst="rect">
            <a:avLst/>
          </a:prstGeom>
          <a:solidFill>
            <a:srgbClr val="007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TextBox 3"/>
          <p:cNvSpPr txBox="1"/>
          <p:nvPr/>
        </p:nvSpPr>
        <p:spPr>
          <a:xfrm>
            <a:off x="0" y="2788920"/>
            <a:ext cx="121889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Multi-UAV Coverage Path Planning</a:t>
            </a:r>
          </a:p>
          <a:p>
            <a:pPr algn="ctr"/>
            <a:r>
              <a:rPr sz="3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for Structural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75887"/>
            <a:ext cx="12188952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Wei Jing, Di Deng, Yan Wu, Kenji Shimada</a:t>
            </a:r>
          </a:p>
          <a:p>
            <a:pPr algn="ctr"/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IROS 2020 / arXiv:2007.13065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60533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2026年5月6日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研究背景及动机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1.1 论文与作者信息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1517904"/>
            <a:ext cx="11612880" cy="5266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论文研究大型复杂3D结构的多UAV视觉巡检。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IROS 2020 / arXiv:2007.13065，作者为Wei Jing, Di Deng, Yan Wu, Kenji Shimada。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目标是在覆盖完整前提下缩短最长单机路径。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问题同时涉及覆盖选择、路径连接和多机分配。</a:t>
            </a:r>
          </a:p>
          <a:p>
            <a:pPr algn="l" marL="560000" indent="-105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与只规划离散拍照点不同，本文把路径边也视为可产生覆盖贡献的基本单元。</a:t>
            </a:r>
          </a:p>
          <a:p>
            <a:pPr algn="l" marL="560000" indent="-105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后续围绕SC‑VRP建模、C‑PRM采样、BRKGA求解和路径长度下降展开。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任务输入为3D mesh，输出为多UAV巡检路径。</a:t>
            </a:r>
          </a:p>
          <a:p>
            <a:pPr algn="l" marL="560000" indent="-105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方法链：3D mesh → C‑PRM → SC‑VRP → BRKGA+。</a:t>
            </a:r>
          </a:p>
          <a:p>
            <a:pPr algn="l" marL="560000" indent="-105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评价指标是在覆盖达标后压缩最长单机路径。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研究背景及动机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1.2 研究背景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1517904"/>
            <a:ext cx="11612880" cy="5266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大型复杂结构巡检需要同时保证安全、效率和覆盖完整性。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单机续航通常只有2⁠0⁠-⁠4⁠0⁠ ⁠m⁠i⁠n，多机协同是大尺度巡检的现实方案。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路径必须让相机覆盖目标表面，同时减少重复观测和无效飞行。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多机规划需要同时处理路径基元选择、访问顺序和UAV分配。</a:t>
            </a:r>
          </a:p>
          <a:p>
            <a:pPr algn="l" marL="560000" indent="-105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优化目标不是总路程最短，而是压缩最长单机路径，避免任务瓶颈。</a:t>
            </a:r>
          </a:p>
          <a:p>
            <a:pPr algn="l" marL="560000" indent="-105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覆盖约束要求目标面片被可见路径基元覆盖，且整体覆盖率达到阈值。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规划同时受到覆盖完整性、续航时间和多机均衡约束。</a:t>
            </a:r>
          </a:p>
          <a:p>
            <a:pPr algn="l" marL="560000" indent="-105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可写成约束优化：coverage ≥ </a:t>
            </a: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δd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，同时最小化maxₖ Lₖ。</a:t>
            </a:r>
          </a:p>
          <a:p>
            <a:pPr algn="l" marL="560000" indent="-105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因此本文不是单纯“找一条短路”，而是在多架UAV间平衡任务负载。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研究背景及动机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1.3 先前方法：视点规划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1517904"/>
            <a:ext cx="11612880" cy="5266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传统流程通常先生成候选视点，再用TSP或局部规划器连接路径。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优点：流程清晰，适合单UAV小规模任务。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不足：只把离散视点作为覆盖单元，忽略飞行路径本身的覆盖贡献。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本文改为采样path primitive，并为每条边记录可见性向量。</a:t>
            </a:r>
          </a:p>
          <a:p>
            <a:pPr algn="l" marL="560000" indent="-105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若两个视点之间的飞行段本身可观察大量表面，传统VPP-TSP往往无法利用这部分信息。</a:t>
            </a:r>
          </a:p>
          <a:p>
            <a:pPr algn="l" marL="560000" indent="-105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因此本文的覆盖单元从“点”扩展到“边/路径基元”，表达能力更接近真实飞行过程。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viewpoint-based planning把“点”当覆盖单元；本文把“边/路径基元”也纳入覆盖。</a:t>
            </a:r>
          </a:p>
          <a:p>
            <a:pPr algn="l" marL="560000" indent="-105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路径段飞行过程中相机持续观测，若忽略这部分，会造成重复视点或不必要绕行。</a:t>
            </a:r>
          </a:p>
          <a:p>
            <a:pPr algn="l" marL="560000" indent="-105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这也是C‑PRM相比普通PRM的关键差异。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研究背景及动机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1.4 先前方法：多机器人规划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1517904"/>
            <a:ext cx="11612880" cy="5266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多机器人CPP能表达任务分配，但很多方法主要针对2D区域覆盖。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VRP / mTSP可以优化多车路线，但不能自然表达“某条路径覆盖一组面片”。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本文把SCP与VRP合并：SCP负责覆盖集合，VRP负责多机路径。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得到的问题称为Set-Covering Vehicle Routing Problem，即SC‑VRP。</a:t>
            </a:r>
          </a:p>
          <a:p>
            <a:pPr algn="l" marL="560000" indent="-105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SCP解决“选哪些路径基元才能覆盖全部目标”，VRP解决“这些基元如何分配给多架UAV并排序”。</a:t>
            </a:r>
          </a:p>
          <a:p>
            <a:pPr algn="l" marL="560000" indent="-105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这个组合建模使覆盖约束和路径均衡同时出现，同时带来更高的问题规模和求解难度。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SCP负责覆盖集合，VRP负责多机路径。</a:t>
            </a:r>
          </a:p>
          <a:p>
            <a:pPr algn="l" marL="560000" indent="-105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SC‑VRP能直接表达多机覆盖巡检，但搜索空间随路径基元和U⁠A⁠V⁠数⁠量增长。</a:t>
            </a:r>
          </a:p>
          <a:p>
            <a:pPr algn="l" marL="560000" indent="-105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精确ILP难以直接处理大规模实例，随后采用BRKGA搜索可行路径。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01  研究背景及动机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1.5 本文贡献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1517904"/>
            <a:ext cx="11612880" cy="5266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本文从采样表示、组合建模和启发式求解三个层面展开。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提出</a:t>
            </a: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multi‑UAV CPP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框架，用于大型复杂3D结构巡检。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提出minmax SC‑VRP，将Set Covering Problem与Vehicle Routing Problem结合。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提出BRKGA编码/解码策略，并加入局部改进启发式。</a:t>
            </a:r>
          </a:p>
          <a:p>
            <a:pPr algn="l" marL="560000" indent="-105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在6个OpenStreetMap模型上评估，最高降低约</a:t>
            </a: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48%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路径长度。</a:t>
            </a:r>
          </a:p>
          <a:p>
            <a:pPr algn="l" marL="560000" indent="-105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实验同时比较路径长度，并用Drake + Octomap验证表⁠面⁠重⁠建效果。</a:t>
            </a:r>
          </a:p>
          <a:p>
            <a:pPr algn="l" marL="560000" indent="-105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关键价值在于把覆盖判定、路径排序和任务分配统一到一个组合优化问题中。</a:t>
            </a:r>
          </a:p>
          <a:p>
            <a:pPr algn="l" marL="350000" indent="-120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贡献分为表示层C‑PRM、建模层SC‑VRP和求解层BRKGA+。</a:t>
            </a:r>
          </a:p>
          <a:p>
            <a:pPr algn="l" marL="560000" indent="-105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实验层用Drake + Octomap验证覆盖质量。</a:t>
            </a:r>
          </a:p>
          <a:p>
            <a:pPr algn="l" marL="560000" indent="-105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三层结构共同支撑大规模多UAV结构巡检问题。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2.1 整体框架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0972800" cy="9692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Coverage Sampling将3D mesh转换为C‑PRM；BRKGA在覆盖约束下生成多UAV路径。</a:t>
            </a:r>
          </a:p>
          <a:p>
            <a:pPr algn="l" marL="560000" indent="-1050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覆盖评估和多机路径分配在同一个优化闭环中完成。</a:t>
            </a:r>
          </a:p>
        </p:txBody>
      </p:sp>
      <p:pic>
        <p:nvPicPr>
          <p:cNvPr id="7" name="Picture 6" descr="framework_core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1005840" y="2635504"/>
            <a:ext cx="6144768" cy="230022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278624" y="2670048"/>
            <a:ext cx="4407408" cy="2340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左侧输出C‑PRM graph：节点/边来自路径基元采样，每条边关联可见性评估结果。</a:t>
            </a:r>
          </a:p>
          <a:p>
            <a:pPr algn="l" marL="350000" indent="-120000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右侧求解path planning and optimization：先可用ILP表达，再用BRKGA处理大规模</a:t>
            </a: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NP-hard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搜索。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5285232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603504" y="5449824"/>
            <a:ext cx="109728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数据流从3D结构采样覆盖图，再把候选边交给SC‑VRP/BRKGA求多机路径。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2.2 C-PRM 与覆盖采样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097280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路径基元计算可见性向量，DualSampleVP优先补充未覆盖表面。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5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C‑PRM的边同时承担连接和覆盖贡献。</a:t>
            </a:r>
          </a:p>
        </p:txBody>
      </p:sp>
      <p:pic>
        <p:nvPicPr>
          <p:cNvPr id="7" name="Picture 6" descr="cprm_core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1101071" y="2432304"/>
            <a:ext cx="5058193" cy="2468880"/>
          </a:xfrm>
          <a:prstGeom prst="rect">
            <a:avLst/>
          </a:prstGeom>
        </p:spPr>
      </p:pic>
      <p:pic>
        <p:nvPicPr>
          <p:cNvPr id="8" name="Picture 7" descr="algorithm1_clean.png"/>
          <p:cNvPicPr>
            <a:picLocks noChangeAspect="1"/>
          </p:cNvPicPr>
          <p:nvPr/>
        </p:nvPicPr>
        <p:blipFill>
          <a:blip ns2:embed="rId4"/>
          <a:stretch>
            <a:fillRect/>
          </a:stretch>
        </p:blipFill>
        <p:spPr>
          <a:xfrm>
            <a:off x="7567555" y="2432304"/>
            <a:ext cx="2604249" cy="26700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6656" y="5248656"/>
            <a:ext cx="1078992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640080" y="5376672"/>
            <a:ext cx="1088136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左图：灰色为结构表面，绿色连线为候选路径基元。</a:t>
            </a:r>
          </a:p>
          <a:p>
            <a:pPr algn="l" marL="350000" indent="-120000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右图：Algorithm 1根据未覆盖集合更新采样方向。</a:t>
            </a:r>
          </a:p>
          <a:p>
            <a:pPr algn="l" marL="350000" indent="-120000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未覆盖集合反馈给DualSampleVP，推动图向覆盖薄弱处扩展。</a:t>
            </a:r>
          </a:p>
          <a:p>
            <a:pPr algn="l" marL="350000" indent="-120000">
              <a:lnSpc>
                <a:spcPct val="88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每条边保存可见性向量，后续SC‑VRP据此检查覆盖率。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2.3 SC-VRP 数学建模（一）：目标函数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1852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SC‑VRP把C‑PRM路径基元、UAV分配和覆盖约束写入同一个min‑max模型。</a:t>
            </a:r>
          </a:p>
          <a:p>
            <a:pPr algn="l" marL="350000" indent="-1200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变量x̂ᵢⱼₖ 表示第k架UAV是否选择边eᵢⱼ，z表示最长单机路径上界。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50545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目标函数与路径长度上界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880360"/>
            <a:ext cx="10195560" cy="12070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(2a)    </a:t>
            </a:r>
            <a:r>
              <a:rPr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min z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(2b)    </a:t>
            </a:r>
            <a:r>
              <a: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Lₖ = Σ dᵢⱼ x̂ᵢⱼₖ,  (i,j)∈E,  ∀ k∈K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(2c)    </a:t>
            </a:r>
            <a:r>
              <a: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Lₖ ≤ z,  ∀ k∈K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(2d)    </a:t>
            </a:r>
            <a:r>
              <a: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x̂ᵢⱼₖ ∈ {0,1},  (i,j)∈E,  k∈K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507992"/>
            <a:ext cx="1083564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713232" y="4690872"/>
            <a:ext cx="10808208" cy="1481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dᵢⱼ 是路径基元长度；对同一k求和得到该UAV的巡检路径长度Lₖ。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min z等价于最小化maxₖ Lₖ，把任务完成时间瓶颈直接放进目标函数。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如果只压缩总路程，可能让单机承担过多路径；min‑max目标会主动均衡多机负载。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939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后续BRKGA的适应度仍围绕Lₖ 和z设计，使建模目标与启发式搜索保持一致。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2.4 SC-VRP 数学建模（二）：覆盖约束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1852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覆盖约束要求每个目标面片至少被一条已选路径基元观测，同时排除断裂子回路。</a:t>
            </a:r>
          </a:p>
          <a:p>
            <a:pPr algn="l" marL="350000" indent="-1200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sᵢⱼₘ 记录边eᵢⱼ 对面片m的可见性贡献，</a:t>
            </a:r>
            <a:r>
              <a:rPr sz="21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δd</a:t>
            </a: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是实验设定的覆盖率阈值。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68880"/>
            <a:ext cx="4023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覆盖率与连通约束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52928"/>
            <a:ext cx="10561320" cy="13350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(3)    </a:t>
            </a:r>
            <a:r>
              <a: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Σₖ Σᵢⱼ sᵢⱼₘ x̂ᵢⱼₖ ≥ 1,  ∀ m∈M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(4)    </a:t>
            </a:r>
            <a:r>
              <a: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Σᵢⱼ∈L x̂ᵢⱼₖ ≤ |L| − 1,  L⊂V′ₖ, |L|≥2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(5)    </a:t>
            </a:r>
            <a:r>
              <a: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δ(P)= |covered faces| / |M|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(6)    </a:t>
            </a:r>
            <a:r>
              <a:rPr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δ(P) ≥ δd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407408"/>
            <a:ext cx="1083564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713232" y="4590288"/>
            <a:ext cx="10808208" cy="1609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式 (3) 保证目标面片被覆盖；式 (4) 限制同一UAV的边形成连通巡检序列。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δ(P) 是已覆盖面片比例；T1/T2取</a:t>
            </a: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99%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，T3-T6取</a:t>
            </a: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98%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覆盖阈值越高，路径更难缩短，但能避免得到“短而漏检”的规划结果。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解码过程中每加入一条边都更新 δ(P)，达到 </a:t>
            </a: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δd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后再比较最长单机路径。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2.5 BRKGA 编码与解码（一）：随机键编码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1852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BRKGA不直接搜索大量0/1变量，而是先生成连续随机键，再解码为多UAV路径。</a:t>
            </a:r>
          </a:p>
          <a:p>
            <a:pPr algn="l" marL="350000" indent="-1200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一个随机键同时决定UAV分配和邻域边选择，降低整数规划求解压力。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542032"/>
            <a:ext cx="2926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随机键编码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907792"/>
            <a:ext cx="10149840" cy="11155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(7a)    </a:t>
            </a:r>
            <a:r>
              <a:rPr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C=(c₁,c₂,…,cₙ)ᵀ,    cᵢ∈[0,K]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(7b)    </a:t>
            </a:r>
            <a:r>
              <a:rPr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uᵢ=⌊cᵢ⌋,    qᵢ=cᵢ−uᵢ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(7c)    </a:t>
            </a:r>
            <a:r>
              <a: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uᵢ → UAV index,    qᵢ → edge rank in N(vᵢ)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297680"/>
            <a:ext cx="1083564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713232" y="4498848"/>
            <a:ext cx="10808208" cy="1755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整数部uᵢ 决定路径基元分配给哪架UAV；小数部qᵢ 在当前节点邻域中排序候选边。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解码不是访问所有节点，而是边扩展、覆盖更新、阈值判断交替进行。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当 δ(P)&lt;</a:t>
            </a: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δd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时继续扩展路径；当 δ(P)≥</a:t>
            </a: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δd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时，解的优劣主要由maxₖ Lₖ 决定。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这种编码让遗传算子在连续空间中工作，同时保留SC‑VRP的覆盖约束含义。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2.6 BRKGA 编码与解码（二）：适应度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1852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适应度函数把覆盖不足惩罚和最长单机路径合并，使不可行解逐步靠近可行路径。</a:t>
            </a:r>
          </a:p>
          <a:p>
            <a:pPr algn="l" marL="350000" indent="-1200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Algorithm 2每扩展一条边就更新Eres、覆盖率 δ(C) 和各UAV的累计路径长度。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487168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覆盖惩罚与 min-max 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798064"/>
            <a:ext cx="10378440" cy="1444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16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(8a)    </a:t>
            </a:r>
            <a:r>
              <a:rPr sz="21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Eres ← Eres ∪ {eᵢ},    Lᵤᵢ ← Lᵤᵢ+d(eᵢ)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(8b)    </a:t>
            </a:r>
            <a:r>
              <a: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δ(C)=evaluateCoverage(Eres)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(8c)    </a:t>
            </a:r>
            <a:r>
              <a: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F(C)=maxₖ Lₖ + λ·max(0, δd−δ(C))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(8d)    </a:t>
            </a:r>
            <a:r>
              <a: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δ(C)≥δd  ⇒  F(C)=maxₖ Lₖ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480560"/>
            <a:ext cx="1083564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713232" y="4663440"/>
            <a:ext cx="10808208" cy="1627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δ(C)&lt;</a:t>
            </a: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δd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时，惩罚项 λ·max(0, </a:t>
            </a: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δd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−δ(C)) 会降低该染色体的竞争力。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覆盖达标后，惩罚项为0，适应度回到最长单机路径目标。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保留惩罚而不是直接丢弃不可行解，可以在早期维持搜索梯度。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该设计把SC‑VRP中的覆盖约束和min‑max目标连接到进化搜索过程。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2.7 局部改进（一）：替换判据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1101852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局部改进在BRKGA生成的可行路径附近做2‑opt替换，只接受覆盖达标且更短的候选解。</a:t>
            </a:r>
          </a:p>
          <a:p>
            <a:pPr algn="l" marL="350000" indent="-1200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候选顶点来自C‑PRM图邻域，搜索范围由图结构限制，计算代价低于整条路径重解码。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615184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Algorithm 3 中的替换判据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62656"/>
            <a:ext cx="10469880" cy="1188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(9a)    </a:t>
            </a:r>
            <a:r>
              <a: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P′ₖ = 2optSwap(Pₖ, vᵢ, vⱼ),    vⱼ∈N(vᵢ)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(9b)    </a:t>
            </a:r>
            <a:r>
              <a:rPr sz="2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accept(P′) ⇔ δ(P′)≥δd ∧ maxₖ L′ₖ &lt; maxₖ Lₖ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(9c)    </a:t>
            </a:r>
            <a:r>
              <a:rPr sz="216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Pᵗ⁺¹=P′, if accept(P′);    Pᵗ⁺¹=Pᵗ, otherwise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" y="4407408"/>
            <a:ext cx="1083564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713232" y="4590288"/>
            <a:ext cx="10808208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2optSwap只改变局部片段，先尝试替换相邻连接，再重新计算覆盖率和路径长度。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如果替换导致 δ(P′)&lt;</a:t>
            </a: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δd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，即使路径变短也不会接受。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如果覆盖仍达标且maxₖ L′ₖ 下降，局部改进会压缩任务瓶颈路径。</a:t>
            </a:r>
          </a:p>
          <a:p>
            <a:pPr algn="l" marL="350000" indent="-120000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全局探索由BRKGA完成，局部改进负责清理冗余绕行，两者共同改善路径质量。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2.8 局部改进（二）：实现链路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72768"/>
            <a:ext cx="5303520" cy="3547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局部搜索作为额外算子插入BRKGA。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输入：染色体C、覆盖图G、路径P。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遍历UAV路径节点，检查C‑PRM邻域。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用2optSwap生成候选染色体Co。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只保留覆盖达标且更短的更新。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DEAP做进化搜索，NetworkX维护邻接表。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6208" y="1572768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E4E4E"/>
                </a:solidFill>
                <a:latin typeface="Times New Roman"/>
                <a:ea typeface="Times New Roman"/>
                <a:cs typeface="Times New Roman"/>
              </a:rPr>
              <a:t>Algorithm 3：局部改进伪代码</a:t>
            </a:r>
          </a:p>
        </p:txBody>
      </p:sp>
      <p:pic>
        <p:nvPicPr>
          <p:cNvPr id="8" name="Picture 7" descr="algorithm3_clean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6126480" y="2125793"/>
            <a:ext cx="4956048" cy="27710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6656" y="5285232"/>
            <a:ext cx="10835640" cy="16459"/>
          </a:xfrm>
          <a:prstGeom prst="rect">
            <a:avLst/>
          </a:prstGeom>
          <a:solidFill>
            <a:srgbClr val="BE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713232" y="5468112"/>
            <a:ext cx="10808208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伪代码依次枚举邻域、尝试替换，并返回更新后的染色体。</a:t>
            </a:r>
          </a:p>
          <a:p>
            <a:pPr algn="l" marL="350000" indent="-120000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该步骤不是重新求解SC‑VRP，而是在可行解附近压缩冗余路径段。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02  研究方法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2.9 实验参数设置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1554480"/>
            <a:ext cx="11064240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实验参数用于保证路径长度比较可解释：相机、覆盖率、最大观测距离和运行次数都固定。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2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planned path length取BRKGA/BRKGA+的10次运行平均值，降低随机启发式波动。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" y="2578608"/>
          <a:ext cx="10991088" cy="2944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7772"/>
                <a:gridCol w="2747772"/>
                <a:gridCol w="2747772"/>
                <a:gridCol w="2747772"/>
              </a:tblGrid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参数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T1/T2 小规模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T3-T6 大规模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说明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diagonal FOV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94°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94°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相机视野固定，路径差异来自规划算法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viewing angle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75°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75°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限制斜视角，保证可观测质量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safety distance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m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m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路径基元需要保持安全间隔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max range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 m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70 m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大结构允许更远观测距离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coverage ratio δd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99%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98%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覆盖阈值进入 Eq. (8) 与解码停止条件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算法对比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VPP-TSP / GNS / BRKGA / BRKGA+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GNS / BRKGA / BRKGA+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验证 SC-VRP + BRKGA+ 的路径压缩效果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12064" y="5632704"/>
            <a:ext cx="1106424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评价指标是最长单机路径maxₖ Lₖ，对应任务完成时间瓶颈；不是所有UAV路径长度之和。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增加U⁠A⁠V⁠数⁠量通常会降低cost，但下降幅度不会线性增长，后续T3-T6表格也体现这一点。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研究结果分析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3.1 目标结构与规模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5212080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实验覆盖6类O⁠S⁠M⁠结⁠构：从小⁠型⁠建⁠筑到高⁠层⁠模⁠型。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T1/T2：阈值</a:t>
            </a: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99%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，用于单机/三机对比。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T3-T6：阈值</a:t>
            </a: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98%</a:t>
            </a: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，用于大规模多机实验。</a:t>
            </a:r>
          </a:p>
          <a:p>
            <a:pPr algn="l" marL="560000" indent="-105000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结构越大，路径平滑性与最长单机路径越关键。</a:t>
            </a:r>
          </a:p>
          <a:p>
            <a:pPr algn="l" marL="560000" indent="-105000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T6约159×319×109 m，检验多机协同与minmax均衡。</a:t>
            </a:r>
          </a:p>
          <a:p>
            <a:pPr algn="l" marL="560000" indent="-105000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几何差异会改变可见性图密度、路径基元长度和局部改进空间。</a:t>
            </a:r>
          </a:p>
        </p:txBody>
      </p:sp>
      <p:pic>
        <p:nvPicPr>
          <p:cNvPr id="7" name="Picture 6" descr="structures_grid_clean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6016752" y="2243745"/>
            <a:ext cx="5065776" cy="277284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70448" y="5650992"/>
            <a:ext cx="565099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右图展示6类测试结构，几何尺度和形状差异用于检验C‑PRM采样与多机分配的稳定性。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研究结果分析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3.2 T1/T2 小规模实验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4261104" cy="5029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8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小规模实验显示，BRKGA+对单机和多机情形都明显缩短规划路径。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T1三机：GNS为</a:t>
            </a:r>
            <a:r>
              <a:rPr sz="188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313.1m</a:t>
            </a: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，BRKGA+降到</a:t>
            </a:r>
            <a:r>
              <a:rPr sz="188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150.8m</a:t>
            </a: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，降低约</a:t>
            </a:r>
            <a:r>
              <a:rPr sz="188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51.8%</a:t>
            </a: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T2三机：GNS为344.1m，BRKGA+降到177.8m，降低约</a:t>
            </a:r>
            <a:r>
              <a:rPr sz="188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48.3%</a:t>
            </a: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algn="l" marL="560000" indent="-105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多UAV场景下，BRKGA+相比GNS平均降低</a:t>
            </a:r>
            <a:r>
              <a:rPr sz="188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48.0%</a:t>
            </a: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algn="l" marL="560000" indent="-105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VPP-TSP只能处理单机CPP，因此多机列为空；这也凸显SC‑VRP的建模优势。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36592" y="1755648"/>
          <a:ext cx="6629400" cy="38221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7057"/>
                <a:gridCol w="947057"/>
                <a:gridCol w="947057"/>
                <a:gridCol w="947057"/>
                <a:gridCol w="947057"/>
                <a:gridCol w="947057"/>
                <a:gridCol w="947058"/>
              </a:tblGrid>
              <a:tr h="76443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方法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T1-1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T1-2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T1-3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T2-1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T2-2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T2-3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</a:tr>
              <a:tr h="76443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VPP-TSP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507.7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587.5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-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76443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GNS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425.6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325.9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313.1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466.2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441.2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344.1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764438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BRKGA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277.9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197.2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168.9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335.3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232.3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201.8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764439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BRKGA+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271.1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186.4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150.8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308.1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225.6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177.8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研究结果分析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3.3 T3-T6 路径长度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122883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大规模结构上BRKGA+相比GNS平均降低</a:t>
            </a:r>
            <a:r>
              <a:rPr sz="188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24.6%</a:t>
            </a: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；T6四机从</a:t>
            </a:r>
            <a:r>
              <a:rPr sz="188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1811.9m</a:t>
            </a: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降到</a:t>
            </a:r>
            <a:r>
              <a:rPr sz="188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1349.2m</a:t>
            </a: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。</a:t>
            </a:r>
          </a:p>
          <a:p>
            <a:pPr algn="l" marL="560000" indent="-105000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88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增加U⁠A⁠V⁠数⁠量会降低最长单机路径，但收益不是线性增长；T5/T6仍保持20% 以上降幅。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2816352"/>
          <a:ext cx="10808208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1368"/>
                <a:gridCol w="1801368"/>
                <a:gridCol w="1801368"/>
                <a:gridCol w="1801368"/>
                <a:gridCol w="1801368"/>
                <a:gridCol w="1801368"/>
              </a:tblGrid>
              <a:tr h="55778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对象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UAV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GNS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BRKGA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BRKGA+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降幅</a:t>
                      </a:r>
                    </a:p>
                  </a:txBody>
                  <a:tcPr marL="27432" marR="27432" marT="18288" marB="18288">
                    <a:solidFill>
                      <a:srgbClr val="F2F2F2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527.6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396.1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357.0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32.3%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542.5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500.3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430.9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20.6%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1373.4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1167.8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1062.3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22.6%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T6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1811.9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1529.9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1349.2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25.5%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03  研究结果分析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3.4 覆盖质量验证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54480"/>
            <a:ext cx="5102352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论文还用Octomap验证覆盖质量。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Drake模拟多UAV飞行与传感器测量。</a:t>
            </a:r>
          </a:p>
          <a:p>
            <a:pPr algn="l" marL="350000" indent="-120000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Octomap构建体素地图，检查覆盖质量。</a:t>
            </a:r>
          </a:p>
          <a:p>
            <a:pPr algn="l" marL="560000" indent="-105000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该步骤连接优化结果与实际可观测性。</a:t>
            </a:r>
          </a:p>
          <a:p>
            <a:pPr algn="l" marL="560000" indent="-105000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只看路径长度可能得到“短但漏检”的解；体⁠素⁠重⁠建可暴露该问题。</a:t>
            </a:r>
          </a:p>
          <a:p>
            <a:pPr algn="l" marL="560000" indent="-105000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各结构均有连续表⁠面⁠重⁠建，说明规划没有只覆盖局部。</a:t>
            </a:r>
          </a:p>
        </p:txBody>
      </p:sp>
      <p:pic>
        <p:nvPicPr>
          <p:cNvPr id="7" name="Picture 6" descr="coverage_grid_clean.png"/>
          <p:cNvPicPr>
            <a:picLocks noChangeAspect="1"/>
          </p:cNvPicPr>
          <p:nvPr/>
        </p:nvPicPr>
        <p:blipFill>
          <a:blip ns2:embed="rId3"/>
          <a:stretch>
            <a:fillRect/>
          </a:stretch>
        </p:blipFill>
        <p:spPr>
          <a:xfrm>
            <a:off x="5888736" y="2143130"/>
            <a:ext cx="5376672" cy="293749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97296" y="5650992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50000" indent="-120000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右图是Octomap体⁠素⁠重⁠建结果，用来验证优化路径不仅短，而且能够形成连续表面覆盖。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04  结论与思考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4.1 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1517904"/>
            <a:ext cx="11612880" cy="5266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本文面向大型复杂结构巡检，提出</a:t>
            </a:r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multi‑UAV CPP</a:t>
            </a: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框架。</a:t>
            </a:r>
          </a:p>
          <a:p>
            <a:pPr algn="l" marL="350000" indent="-1200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path primitive作为覆盖单元，利用飞行段中的可见性贡献。</a:t>
            </a:r>
          </a:p>
          <a:p>
            <a:pPr algn="l" marL="350000" indent="-1200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SC‑VRP统一表达覆盖选择、路径连接与多机分配。</a:t>
            </a:r>
          </a:p>
          <a:p>
            <a:pPr algn="l" marL="350000" indent="-1200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BRKGA+在复杂组合空间中搜索短路径。</a:t>
            </a:r>
          </a:p>
          <a:p>
            <a:pPr algn="l" marL="560000" indent="-1050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多机巡检应从覆盖约束出发，再联合优化分配和路径长度。</a:t>
            </a:r>
          </a:p>
          <a:p>
            <a:pPr algn="l" marL="560000" indent="-1050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局限：路径平滑性、动力学、通信和在线避障尚未完整纳入模型。</a:t>
            </a:r>
          </a:p>
          <a:p>
            <a:pPr algn="l" marL="560000" indent="-1050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后续可加入smoothness、uncertainty handling和在线重规划。</a:t>
            </a:r>
          </a:p>
          <a:p>
            <a:pPr algn="l" marL="560000" indent="-1050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局限之外，本文仍提供了可扩展的大规模结构巡检建模框架。</a:t>
            </a:r>
          </a:p>
          <a:p>
            <a:pPr algn="l" marL="350000" indent="-1200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覆盖达标与路径缩短必须同时成立。</a:t>
            </a:r>
          </a:p>
          <a:p>
            <a:pPr algn="l" marL="560000" indent="-1050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可复用结构：C‑PRM生成候选路径，SC‑VRP/BRKGA+完成选择与排序。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9552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3" name="Picture 2" descr="generated-header-logo.png"/>
          <p:cNvPicPr>
            <a:picLocks noChangeAspect="1"/>
          </p:cNvPicPr>
          <p:nvPr/>
        </p:nvPicPr>
        <p:blipFill>
          <a:blip ns2:embed="rId2"/>
          <a:stretch>
            <a:fillRect/>
          </a:stretch>
        </p:blipFill>
        <p:spPr>
          <a:xfrm>
            <a:off x="448056" y="54864"/>
            <a:ext cx="2423160" cy="6766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71800" y="100584"/>
            <a:ext cx="70408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Part. 05  研究方向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7772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5.1 研究方向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1517904"/>
            <a:ext cx="11612880" cy="5266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10000" indent="-1400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● 后续可扩展为语言指令驱动的多UAV巡检规划。</a:t>
            </a:r>
          </a:p>
          <a:p>
            <a:pPr algn="l" marL="350000" indent="-1200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LLM解析覆盖区域、优先级、禁飞区和期望覆盖率。</a:t>
            </a:r>
          </a:p>
          <a:p>
            <a:pPr algn="l" marL="350000" indent="-1200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优化模块转成SC‑VRP/VRP/orienteering等问题。</a:t>
            </a:r>
          </a:p>
          <a:p>
            <a:pPr algn="l" marL="350000" indent="-1200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飞控层把路径基元转为可执行轨迹，并在线重规划。</a:t>
            </a:r>
          </a:p>
          <a:p>
            <a:pPr algn="l" marL="560000" indent="-1050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任务输入可包含目标类型、重点区域、覆盖阈值和U⁠A⁠V⁠数⁠量。</a:t>
            </a:r>
          </a:p>
          <a:p>
            <a:pPr algn="l" marL="560000" indent="-1050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仿真器检查覆盖缺口，并反馈给采样模块。</a:t>
            </a:r>
          </a:p>
          <a:p>
            <a:pPr algn="l" marL="560000" indent="-1050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最终目标是从任务描述到可执行巡检路径形成自动闭环。</a:t>
            </a:r>
          </a:p>
          <a:p>
            <a:pPr algn="l" marL="350000" indent="-1200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• 系统闭环：任务理解 → 约束生成 → 路径规划 → 仿真验证 → 缺口反馈。</a:t>
            </a:r>
          </a:p>
          <a:p>
            <a:pPr algn="l" marL="560000" indent="-105000">
              <a:lnSpc>
                <a:spcPct val="99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– 任务语义需要转成覆盖、禁飞区和多机分配约束。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12848"/>
            <a:ext cx="12191695" cy="2852928"/>
          </a:xfrm>
          <a:prstGeom prst="rect">
            <a:avLst/>
          </a:prstGeom>
          <a:solidFill>
            <a:srgbClr val="0079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extBox 2"/>
          <p:cNvSpPr txBox="1"/>
          <p:nvPr/>
        </p:nvSpPr>
        <p:spPr>
          <a:xfrm>
            <a:off x="0" y="3145536"/>
            <a:ext cx="121889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6053328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2026年5月6日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ep:Properties xmlns:ep="http://schemas.openxmlformats.org/officeDocument/2006/extended-properties" xmlns:vt="http://schemas.openxmlformats.org/officeDocument/2006/docPropsVTypes">
  <ep:TotalTime>0</ep:TotalTime>
  <ep:Words>0</ep:Words>
  <ep:Application>Microsoft PowerPoint</ep:Application>
  <ep:PresentationFormat>On-screen Show (4:3)</ep:PresentationFormat>
  <ep:Paragraphs>0</ep:Paragraphs>
  <ep:Slides>0</ep:Slides>
  <ep:Notes>0</ep:Notes>
  <ep:HiddenSlides>0</ep:HiddenSlides>
  <ep:MMClips>0</ep:MMClips>
  <ep:ScaleCrop>false</ep:ScaleCrop>
  <ep: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ep:HeadingPairs>
  <ep:TitlesOfParts>
    <vt:vector size="1" baseType="lpstr">
      <vt:lpstr>Office Theme</vt:lpstr>
    </vt:vector>
  </ep:TitlesOfParts>
  <ep:Manager/>
  <ep:Company/>
  <ep:LinksUpToDate>false</ep:LinksUpToDate>
  <ep:SharedDoc>false</ep:SharedDoc>
  <ep:HyperlinkBase/>
  <ep:HyperlinksChanged>false</ep:HyperlinksChanged>
  <ep:AppVersion>16.0000</ep:AppVersion>
</e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Paper Report</dc:title>
  <dc:subject/>
  <dc:creator>paper2ppt</dc:creator>
  <cp:keywords/>
  <dc:description>generated using python-pptx</dc:description>
  <cp:lastModifiedBy>paper2ppt</cp:lastModifiedBy>
  <cp:revision>1</cp:revision>
  <dcterms:created xsi:type="dcterms:W3CDTF">2026-01-01T00:00:00Z</dcterms:created>
  <dcterms:modified xsi:type="dcterms:W3CDTF">2026-01-01T00:00:00Z</dcterms:modified>
  <cp:category/>
</cp:coreProperties>
</file>