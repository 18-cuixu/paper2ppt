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475488" y="2633472"/>
            <a:ext cx="1126540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PRIMER: Perception-Aware Robust Learning-based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Multiagent Trajectory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8895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Kondo et al. / arXiv:2406.10060v4 /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论文与核心问题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1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论文面向多UAV在未知环境中的分布式轨迹规划与避碰。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1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现实部署同时受未知障碍、定位误差、多机通信、有限视场和机载算力约束。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1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核心矛盾是同时保持感知质量、去冲突安全和高频重规划速度。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26080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49808" y="30906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现实约束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0906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优化瓶颈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656" y="30906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PRIMER 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19856"/>
            <a:ext cx="3346704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障碍与其他agent轨迹持续变化，规划器需要高频更新。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窄FOV相机要求position和yaw同时满足观测约束。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3419856"/>
            <a:ext cx="3383280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能给出高质量专家轨迹，但多障碍、多机时约束规模迅速增大。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在线反复求解优化问题，会成为机载端部署的主要计算瓶颈。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3419856"/>
            <a:ext cx="3858768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离线用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生成示范，在线由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/FC网络输出候选轨迹。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在保留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perception‑aware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与deconfliction的同时降低部署计算量。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175504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Box 14"/>
          <p:cNvSpPr txBox="1"/>
          <p:nvPr/>
        </p:nvSpPr>
        <p:spPr>
          <a:xfrm>
            <a:off x="786384" y="5449824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5614×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85216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单障碍计算加速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4495.8 ms → 0.8008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5449824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585216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成功率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单障碍和多机主实验保持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5449824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109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585216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三机两障碍重规划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PRIMER 平均计算时间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多机规划的现实矛盾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91056"/>
            <a:ext cx="1101852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8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多UAV轨迹规划不是单纯避障，而是在感知、通信和实时求解之间做联合权衡。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未知障碍要求在线感知与快速重规划，定位误差又会让轨迹去冲突失效。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8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有限FOV让yaw规划成为安全感知的一部分，不能只优化位置轨迹。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83464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658368" y="3054096"/>
            <a:ext cx="524865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优化式规划的优势与瓶颈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优势：显式处理collision、FOV、dynamic feasibility等约束。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瓶颈：agent数、障碍数和候选轨迹数增加后，求解与检查开销迅速放大。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在高频重规划中，数秒级优化会直接降低系统反应速度。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3054096"/>
            <a:ext cx="528523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学习式规划需要补齐的能力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部署速度快，但必须保持专家轨迹中的去冲突和感知约束。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输入维度随障碍和agent数量变化，需要序列模型处理可变集合。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输出不能只有position，还要包含yaw以维持视场观测。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548640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676656" y="5650992"/>
            <a:ext cx="1089964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的切入点是用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生成高质量专家数据，再把部署阶段的在线求解改为一次神经网络前向推理。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因此本文关注的是“专家质量 +推理速度 +多机感知约束”能否同时成立。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1.3 现有方法位置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91056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Table I的关键信息是：已有方法通常只满足multiagent、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perception‑aware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、learning‑based中的一部分。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试图把三类能力合在一个分布式异步规划器中。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2542032"/>
          <a:ext cx="1049731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17320"/>
                <a:gridCol w="1874519"/>
                <a:gridCol w="1645920"/>
                <a:gridCol w="3730752"/>
              </a:tblGrid>
              <a:tr h="3413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方法类别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Multiagent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Perception-aware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Learning-based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典型方法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分布式多机规划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EGO-Swarm / MADER / RMADER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感知约束规划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PANTHER / PA-RHP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学习式感知规划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Deep-PANTHER / CGD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PUMA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不属于 learning-based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PRIMER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本文方法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4944" y="488289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76656" y="5065776"/>
            <a:ext cx="108996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表格不是单纯比较优劣，而是说明本文的组合目标：多机、感知约束、学习式部署。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这一定位也解释了后文为什么先构建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专家，再训练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学生模型。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1.4 主要贡献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91056"/>
            <a:ext cx="11018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论文提出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与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两层方法链，把优化式专家和学习式部署连接起来。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核心目标是在未知动态障碍、多机异步规划和有限视场约束下实现快速重规划。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57860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658368" y="27980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优化式专家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82112"/>
            <a:ext cx="3383280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：分布式、异步、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perception‑aware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的多agent轨迹规划器。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保留robust MADER的发布检查与回退机制，用于生成安全示范。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980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学习式部署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82112"/>
            <a:ext cx="3383280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：用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作为expert demonstrator的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IL-based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planner。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处理可变数量障碍和其他agent，FC layers输出固定长度轨迹。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27980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实验验证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182112"/>
            <a:ext cx="3383280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benchmark对比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的计算时间、成功率、FOV和动态约束。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结果显示最高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5614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 计算加速，同时保持关键场景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成功率。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513892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Box 14"/>
          <p:cNvSpPr txBox="1"/>
          <p:nvPr/>
        </p:nvSpPr>
        <p:spPr>
          <a:xfrm>
            <a:off x="786384" y="537667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5614×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779008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单障碍计算加速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089904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4495.8 ms → 0.8008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537667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5779008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成功率保持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6089904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单障碍与多机主实验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537667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109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5779008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三机两障碍重规划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6089904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学习式在线推理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PARM/PARM* 的优化式去冲突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基于Robust MADER框架，每个agent独立优化并异步检查冲突。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优化、冲突检测、delay check、提交或回退构成安全发布流程。</a:t>
            </a:r>
          </a:p>
        </p:txBody>
      </p:sp>
      <p:pic>
        <p:nvPicPr>
          <p:cNvPr id="7" name="Picture 6" descr="fig1_parm_sequence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09396" y="2615184"/>
            <a:ext cx="5843878" cy="2670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67728" y="2542032"/>
            <a:ext cx="4334256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安全性来自发布前检查，而不是只相信优化结果。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若新轨迹与其他agent已发布轨迹冲突，则回退到上一轮committed trajectory。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更少保守，但需要更多计算来寻找接近最优的轨迹。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多障碍、多agent场景中，优化约束规模会迅速增大。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44982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614416"/>
            <a:ext cx="1089964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的学习目标不是替代安全逻辑，而是把优化式专家的轨迹生成能力压缩到快速神经网络推理中。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因此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同时承担expert demonstrator和性能上界参照的角色。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感知约束与 yaw 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有限视场相机使yaw成为轨迹规划的一部分：无人机既要避障，也要让障碍保持在FOV内。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论文把FOV奖励项加入优化目标，鼓励轨迹在运动中持续观测多个障碍。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968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FOV 目标项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62656"/>
            <a:ext cx="10424160" cy="479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(1)    J𝒇 = - α𝒇 · ∑ᵢ ∫₀ᵀ [inFOV(oᵢ, p(t), ψ(t))]³ dt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424160" cy="479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inFOV(·) 越大，表示障碍在相机视场中的观测质量越高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431596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676656" y="4517136"/>
            <a:ext cx="10899648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α𝒇控制“保持观测”相对于轨迹代价的权重；负号表示优化时会倾向于增大视场内观测质量。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∫₀ᵀ 表示沿整段规划时域累计视场质量，∑ᵢ 表示对多个动态障碍同时约束。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三次方会放大高质量观测的收益，使yaw规划更主动地保持障碍在相机前方。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因此需要同时输出position &amp; yaw，而不是只输出位置轨迹。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PRIMER 网络结构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用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处理可变数量的障碍和其他agent，再由全连接层输出固定长度轨迹。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网络同时生成position与yaw轨迹，避免Deep-PANTHER只学习位置后再闭式生成yaw的限制。</a:t>
            </a:r>
          </a:p>
        </p:txBody>
      </p:sp>
      <p:pic>
        <p:nvPicPr>
          <p:cNvPr id="7" name="Picture 6" descr="fig2_network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845196" y="2523744"/>
            <a:ext cx="4673830" cy="31638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0176" y="2560320"/>
            <a:ext cx="5321808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输入由自身状态、障碍预测轨迹和其他agent轨迹组成。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的作用是处理n、m不固定的序列输入。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FC layers将latent output转成轨迹参数。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部署阶段只需一次网络前向推理，计算量远低于在线求解大规模优化。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57784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742432"/>
            <a:ext cx="1089964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该结构保留了多障碍和多agent信息，又把在线规划从优化问题转为监督学习推理问题。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模型的实际效果取决于专家数据覆盖范围和yaw轨迹训练稳定性。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Imitation Learning 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训练采用student-expert imitation learning，把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的优化式轨迹策略压缩到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网络中。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训练目标同时覆盖position与yaw，使网络输出可直接用于感知约束重规划。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43230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49808" y="261518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训练闭环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26080"/>
            <a:ext cx="5193792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在随机终点、多动态障碍和其他agent轨迹条件下生成专家示范。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DAgger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让学生策略进入闭环：学生执行、专家纠偏、数据集扩充、重新训练。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Adam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更新网络参数，最终输出固定长度的position与yaw轨迹。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闭环采样可覆盖学生策略实际访问到的状态，减弱纯离线模仿的分布偏移。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损失函数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944368"/>
            <a:ext cx="4736592" cy="3564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(2)    Lₜ = Lₚ + α Lᵧ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358896"/>
            <a:ext cx="4736592" cy="3564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α = 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773424"/>
            <a:ext cx="4736592" cy="3564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Lₚ：位置误差；Lᵧ：偏航误差</a:t>
            </a:r>
            <a:r>
              <a:rPr sz="18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4425696"/>
            <a:ext cx="4992624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α=70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表示训练时显著提高yaw误差权重。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该设计把“看向哪里”提升到与“飞到哪里”同等重要的位置。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模型最终学习专家在位置、yaw与多障碍交互中的综合决策。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554126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676656" y="5705856"/>
            <a:ext cx="10899648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对UAV规划来说，这一训练方式把“快速生成候选轨迹”和“保持视场观测质量”放在同一个监督目标中。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后续在线部署仍需要结合共享轨迹和安全检查，避免学习模型在分布外场景中直接决定最终轨迹。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Obstacle Sharing 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每个agent检测并跟踪障碍，同时共享预测轨迹，使团队获得更完整的局部环境信息。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共享对象包括obstacle prediction和其他agent trajectory。</a:t>
            </a:r>
          </a:p>
        </p:txBody>
      </p:sp>
      <p:pic>
        <p:nvPicPr>
          <p:cNvPr id="7" name="Picture 6" descr="fig3_sharing_arch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49808" y="2563749"/>
            <a:ext cx="5760720" cy="31203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84848" y="2578608"/>
            <a:ext cx="4517136" cy="279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图中每层agent都保留自己的planning module。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trajectory tracker and predictor把观测转成可传播的障碍轨迹。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planning module将共享信息、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和FC layers连接起来。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分布式结构降低单点失效风险，但仍依赖通信和相对定位质量。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65099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815584"/>
            <a:ext cx="1089964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该架构把局部观测扩展为团队级障碍理解，是多机避碰和感知约束规划的连接层。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方法闭环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的方法链路可以概括为：优化式专家生成示范，学习式学生负责快速在线轨迹输出。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87168"/>
            <a:ext cx="2029968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13231" y="2596896"/>
            <a:ext cx="188366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局部观测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障碍检测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其他 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ounded Rectangle 9"/>
          <p:cNvSpPr/>
          <p:nvPr/>
        </p:nvSpPr>
        <p:spPr>
          <a:xfrm>
            <a:off x="2926080" y="2487168"/>
            <a:ext cx="2029968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999232" y="2596896"/>
            <a:ext cx="188366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Obstacle Sharing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预测轨迹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通信共享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ounded Rectangle 12"/>
          <p:cNvSpPr/>
          <p:nvPr/>
        </p:nvSpPr>
        <p:spPr>
          <a:xfrm>
            <a:off x="5212080" y="2487168"/>
            <a:ext cx="2029968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5285232" y="2596896"/>
            <a:ext cx="188366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PARM* Expert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高质量示范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安全去冲突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15200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ounded Rectangle 15"/>
          <p:cNvSpPr/>
          <p:nvPr/>
        </p:nvSpPr>
        <p:spPr>
          <a:xfrm>
            <a:off x="7498079" y="2487168"/>
            <a:ext cx="2029968" cy="932688"/>
          </a:xfrm>
          <a:prstGeom prst="roundRect">
            <a:avLst/>
          </a:prstGeom>
          <a:solidFill>
            <a:srgbClr val="E8F4FF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7571231" y="2596896"/>
            <a:ext cx="188366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 Student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 + FC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快速推理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01200" y="2798064"/>
            <a:ext cx="292608" cy="219456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ounded Rectangle 18"/>
          <p:cNvSpPr/>
          <p:nvPr/>
        </p:nvSpPr>
        <p:spPr>
          <a:xfrm>
            <a:off x="9784080" y="2487168"/>
            <a:ext cx="2029968" cy="932688"/>
          </a:xfrm>
          <a:prstGeom prst="roundRect">
            <a:avLst/>
          </a:prstGeom>
          <a:solidFill>
            <a:srgbClr val="F2F8FC"/>
          </a:solidFill>
          <a:ln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TextBox 19"/>
          <p:cNvSpPr txBox="1"/>
          <p:nvPr/>
        </p:nvSpPr>
        <p:spPr>
          <a:xfrm>
            <a:off x="9857232" y="2596896"/>
            <a:ext cx="188366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轨迹执行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 + yaw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持续重规划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395020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676656" y="4151376"/>
            <a:ext cx="10899648" cy="2231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负责定义安全、感知约束和去冲突策略，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负责把高代价优化压缩成低代价推理。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闭环中仍保留共享轨迹和冲突检查思想，因此学习式部分承担的是高频候选轨迹生成。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这种设计适合机载重规划：规划频率越高，优化式求解的计算瓶颈越明显。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部署阶段的在线负载主要变成状态编码、网络推理和轻量级安全检查，而不是反复求解非线性优化。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6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实验比较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与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在单障碍、多障碍和多agent场景中的表现。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6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动态障碍采用randomized trefoil-knot轨迹，agent执行对角位置交换。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6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评价同时覆盖计算速度、成功率、视场保持和动态可行性。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3090672"/>
          <a:ext cx="10442448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681728"/>
                <a:gridCol w="4023360"/>
              </a:tblGrid>
              <a:tr h="30632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类别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设置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含义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动力学约束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vₘₐₓ=2.0 m/s, aₘₐₓ=10.0 m/s², jₘₐₓ=30.0 m/s³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限制速度、加速度和 jerk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障碍运动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trefoil-knot trajectories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模拟动态障碍的三维复杂运动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计算平台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Ubuntu 20.04, Intel i9-9900K, 62.6 GiB RAM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保证不同方法在同一硬件上比较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4944" y="459028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786384" y="47365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评价指标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5102352"/>
            <a:ext cx="108996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计算时间：每次重规划耗时。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成功率：无碰撞到达目标的比例。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Travel time：完成位置交换的时间。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FOV rate与连续FOV帧数：障碍保持在相机视场中的程度。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动态约束违反率：速度、加速度、jerk和yaw rate的约束违反。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单智能体单障碍结果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单障碍实验显示，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用极小的计算代价保持了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的成功率和约束满足。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542032"/>
          <a:ext cx="10131552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2560320"/>
                <a:gridCol w="2011680"/>
                <a:gridCol w="2176272"/>
              </a:tblGrid>
              <a:tr h="3901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Avg. Cost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Computation Time [ms]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 Rate [%]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Failure Rate [%]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PARM*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403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4495.8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PRIMER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431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0.8008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078224"/>
            <a:ext cx="3395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5614×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3395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计算加速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91456"/>
            <a:ext cx="3395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4495.8 / 0.8008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8160" y="4078224"/>
            <a:ext cx="3395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+6.7%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8160" y="4480560"/>
            <a:ext cx="3395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平均代价增加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8160" y="4791456"/>
            <a:ext cx="3395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431 vs 403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360" y="4078224"/>
            <a:ext cx="3395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4480560"/>
            <a:ext cx="3395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动态约束失败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3360" y="4791456"/>
            <a:ext cx="3395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两种方法均为 0.0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52852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TextBox 17"/>
          <p:cNvSpPr txBox="1"/>
          <p:nvPr/>
        </p:nvSpPr>
        <p:spPr>
          <a:xfrm>
            <a:off x="676656" y="5468112"/>
            <a:ext cx="1089964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这组结果说明学习式部署的主要收益在计算时间，轨迹代价略有增加但安全指标没有下降。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对高频重规划系统而言，计算时间下降比单次轨迹代价的小幅变化更关键。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多机多障碍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Table IV的核心结论是：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在两种场景中保持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成功率，同时计算时间最低。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2487168"/>
          <a:ext cx="9802368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6"/>
                <a:gridCol w="1207008"/>
                <a:gridCol w="749808"/>
                <a:gridCol w="1225296"/>
                <a:gridCol w="1024128"/>
                <a:gridCol w="1097280"/>
                <a:gridCol w="841248"/>
                <a:gridCol w="1225296"/>
                <a:gridCol w="841248"/>
              </a:tblGrid>
              <a:tr h="30828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Env.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#Traj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Comp. [ms]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Travel [s]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FOV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Trans. Viol.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Yaw Viol.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30828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agent + 2 obst.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PARM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746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22.1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828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PARM*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3636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20.6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828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PRIMER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22.0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828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agents + 2 obst.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PARM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1415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21.0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7.8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828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PARM*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5762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24.3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0828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PRIMER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109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96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22.6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4944" y="490118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76656" y="5084064"/>
            <a:ext cx="108996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一机两障碍中，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平均计算时间为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140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ms，travel time为4.2 s。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三机两障碍中，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因优化和检查耗时过长，成功率下降到9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保持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的FOV指标没有明显牺牲，说明快速推理并非简单忽略感知约束。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仿真轨迹过程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Fig.4展示三架learning‑based student agent绕过两个动态障碍并执行对角位置交换。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红色轨迹显示agent在多障碍场景中的绕行和去冲突过程。</a:t>
            </a:r>
          </a:p>
        </p:txBody>
      </p:sp>
      <p:pic>
        <p:nvPicPr>
          <p:cNvPr id="7" name="Picture 6" descr="fig4_sim_result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490929" y="2578608"/>
            <a:ext cx="3839565" cy="2779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5392" y="2542032"/>
            <a:ext cx="4608576" cy="2761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图中四个时刻对应同一任务的连续演化。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障碍为0.5 m边长boxes，并按动态轨迹运动。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论文为简化展示省略了FOV tripod，但评价指标中仍统计FOV rate。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该图主要证明学习式planner能在多机多障碍场景中输出可执行轨迹。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59612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76656" y="5760720"/>
            <a:ext cx="108996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结合Table IV，图像结果和统计结果共同支撑“快速推理没有破坏多机去冲突能力”的结论。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11" name="DENSITY_TAKEAWAY_PANEL"/>
          <p:cNvSpPr/>
          <p:nvPr/>
        </p:nvSpPr>
        <p:spPr>
          <a:xfrm>
            <a:off x="786384" y="6016752"/>
            <a:ext cx="10643616" cy="457200"/>
          </a:xfrm>
          <a:prstGeom prst="rect">
            <a:avLst/>
          </a:prstGeom>
          <a:solidFill>
            <a:srgbClr val="F2F4F7"/>
          </a:solidFill>
          <a:ln w="889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3.5 计算时间与轨迹质量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Fig.5对计算时间、travel time、加速度平滑性和jerk平滑性进行分布式比较。</a:t>
            </a:r>
          </a:p>
        </p:txBody>
      </p:sp>
      <p:pic>
        <p:nvPicPr>
          <p:cNvPr id="7" name="Picture 6" descr="fig5_benchmark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078992" y="2212848"/>
            <a:ext cx="5257800" cy="37124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304288"/>
            <a:ext cx="4315968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的计算时间分布明显低于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6-trajectory优化能提高轨迹平滑性，但计算时间显著增加。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在smoothness上接近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，同时travel time更短。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结果体现出学习式部署在高频重规划中的优势。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5943600"/>
            <a:ext cx="10789920" cy="1828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896112" y="6108192"/>
            <a:ext cx="10314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核心取舍：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牺牲少量专家最优性，换取数量级计算加速和更稳定的在线重规划。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优势与局限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36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899648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把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perception‑aware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multiagent planning从在线优化转向快速学习式推理。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保留分布式、异步、多障碍tracking和position &amp; yaw联合输出。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实验中计算时间从数百到数千毫秒量级降至百毫秒或亚毫秒量级。</a:t>
            </a:r>
          </a:p>
          <a:p>
            <a:pPr algn="l" marL="350000" indent="-1200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三机两障碍场景中仍保持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成功率，说明泛化到小规模swarm有可行性。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52958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94944" y="36941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05072"/>
            <a:ext cx="10899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安全性仍依赖专家数据分布、共享信息质量和后续deconfliction检查。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论文实验以仿真为主，尚未展示大规模swarm和复杂实机场景。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神经网络在分布外障碍行为、通信延迟和定位误差放大时仍需额外验证。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学到的是专家策略近似，不能天然提供优化式方法的显式最优性证明。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工程部署仍需要轨迹检查、碰撞过滤和异常回退机制配合使用。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4.2 结论归纳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的价值在于把高代价的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perception‑aware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multiagent optimization转成快速推理。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核心不是取消优化式安全逻辑，而是把高频候选轨迹生成从在线优化转为学习式推理。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56032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86384" y="27614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方法结论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090672"/>
            <a:ext cx="5285232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提供专家轨迹与去冲突框架，训练目标具备明确的安全和感知含义。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结构解决障碍数量和agent数量不固定的问题。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yaw加权损失使模型关注相机视场，而不是只追求位置误差最小。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7614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实验结论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3090672"/>
            <a:ext cx="5340096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计算时间是最明确的收益：单障碍从4495.8 ms降到0.8008 ms，多机多障碍保持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109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140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ms。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成功率和FOV指标没有明显牺牲，说明学习式推理仍保留专家策略中的感知约束。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主要收益来自部署阶段推理速度，而不是生成更优的单次轨迹。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513892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676656" y="5340096"/>
            <a:ext cx="10899648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后续研究集中在实机验证、分布外安全和更大规模swarm的通信鲁棒性。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整体上，本文更适合作为“快速候选轨迹生成器”方案，而不是完整替代优化式安全验证。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05  系统启发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5.1 对无人机系统的启发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09376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“优化式专家 +学习式部署”提供了在线规划系统的前端轨迹生成思路。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专家模块离线定义安全、感知和去冲突策略，学生模型在机载端提供高频候选轨迹。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4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关键不是取消安全检查，而是把高代价优化求解从在线环节移走。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852928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49808" y="3035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可复用模块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2"/>
            <a:ext cx="5230368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PARM*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/优化专家可生成覆盖多障碍、多机交互和yaw约束的示范数据。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LSTM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/FC学生网络适合处理可变数量障碍和agent轨迹。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obstacle sharing可作为通信层向局部规划层传递共享预测轨迹。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3035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工程风险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364992"/>
            <a:ext cx="5230368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通信延迟、丢包和定位偏差会直接影响共享轨迹质量。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学习策略在分布外场景中仍需safety filter、轨迹检查和异常回退。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3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实机部署需要重新评估传感器噪声、FOV标定和计算延迟。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506577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786384" y="52303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扩展方向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559552"/>
            <a:ext cx="10899648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加入不确定性估计，对网络输出轨迹进行风险排序，再交由安全过滤器或优化模块筛选。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把 </a:t>
            </a:r>
            <a:r>
              <a:rPr sz="184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PRIMER</a:t>
            </a:r>
            <a:r>
              <a:rPr sz="18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与任务层规划结合，使目标分配、感知约束和局部轨迹生成形成闭环。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0" y="3054096"/>
            <a:ext cx="1218895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