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402336" y="2578608"/>
            <a:ext cx="11393424" cy="104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Quadrotor Navigation using Reinforcement Learning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with Privileged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22191"/>
            <a:ext cx="12188952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Lee et al. / arXiv:2509.08177v2 /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1.1 端到端无人机导航的瓶颈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44784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5"/>
              </a:spcAft>
            </a:pPr>
            <a:r>
              <a:rPr sz="1889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论文面向复杂户外环境中的四旋翼视觉导航，目标是在大障碍、急转弯和死胡同场景中实现低延迟自主飞行。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5"/>
              </a:spcAft>
            </a:pPr>
            <a:r>
              <a:rPr sz="178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端到端策略能减少传统感知、规划、控制分模块串联带来的延迟，但局部反应式策略容易被大墙体或凹形障碍困住。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90779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86384" y="3090672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局部感知不足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87952" y="3090672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航向受限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3090672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实机迁移误差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438144"/>
            <a:ext cx="3163824" cy="1444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深度图只提供当前视野内几何，ESDF等局部代价难以给出绕行方向。</a:t>
            </a:r>
          </a:p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在凹形区域中，单纯避障损失会使策略停滞或选择过近路径。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8224" y="3438144"/>
            <a:ext cx="3163824" cy="1444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固定朝向目标会让机体持续看向被遮挡方向，转弯时难以建立稳定视觉输入。</a:t>
            </a:r>
          </a:p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论文新增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对齐损失，使机头朝向与实际运动方向一致。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792" y="3438144"/>
            <a:ext cx="3163824" cy="1444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训练采用point‑mass动力学，实机需要跟踪姿态、推力和body rate。</a:t>
            </a:r>
          </a:p>
          <a:p>
            <a:pPr algn="l" marL="350000" indent="-120000">
              <a:lnSpc>
                <a:spcPct val="93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质量、推力系数和电压变化会产生稳态推力偏差，需要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域随机化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补偿。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513892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77824" y="5394960"/>
            <a:ext cx="335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86%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797296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仿真成功率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6099048"/>
            <a:ext cx="335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11 个 OOD 环境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0351" y="5394960"/>
            <a:ext cx="335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34%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0351" y="5797296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优于基线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0351" y="6099048"/>
            <a:ext cx="335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摘要报告提升幅度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02880" y="5394960"/>
            <a:ext cx="335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589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02880" y="5797296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实机飞行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2880" y="6099048"/>
            <a:ext cx="3352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20 次无碰撞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1.2 与已有方法的技术差异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已有端到端飞行策略主要解决窄障碍快速通过，对需要绕行的大障碍和迷宫式区域处理不足。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0545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2761488"/>
          <a:ext cx="1077163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908"/>
                <a:gridCol w="2692908"/>
                <a:gridCol w="2692908"/>
                <a:gridCol w="2692908"/>
              </a:tblGrid>
              <a:tr h="38862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方法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训练信号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部署输入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主要不足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Zhang et al.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可微物理 + 局部损失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深度图 + 状态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航向固定，绕大障碍困难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YOPO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ESDF 引导学习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深度图 + primitive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偏局部避障，缺少全局可达方向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本文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ToA 特权信息 + Yaw 损失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深度图 + 目标 + 状态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3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长时回退场景仍然困难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694944" y="464515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4882896"/>
            <a:ext cx="10716768" cy="1225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本文的核心区别是训练时引入全局路径方向，推理时保持反应式低延迟控制。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map只提供训练监督；实机部署不显式维护地图，因此计算链路仍然接近端到端策略。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预测补足视觉朝向，</a:t>
            </a:r>
            <a:r>
              <a:rPr sz="16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梯度补足绕行方向，两者共同解决大障碍导航。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研究背景与问题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1.3 论文主要贡献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论文把可微仿真、航向预测、</a:t>
            </a:r>
            <a:r>
              <a:rPr sz="18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8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特权信息</a:t>
            </a: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和实机控制补偿组合成端到端四旋翼导航训练框架。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2374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3232" y="2761488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航向与控制输出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127248"/>
            <a:ext cx="3273552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策略输出质量归一化推力tₖ和预测航向 ψₖ。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对齐损失让机体在绕障时朝向运动方向，改善急转弯场景。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2544" y="2761488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ToA 特权监督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2544" y="3127248"/>
            <a:ext cx="3273552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map在训练期提供最短到达时间梯度，诱导策略学习绕开凹形障碍。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部署阶段不需要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map，策略仍由深度图与状态直接输出动作。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1856" y="2761488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实机可迁移性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1856" y="3127248"/>
            <a:ext cx="3273552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使用body rate姿态控制弥合point‑mass训练与刚体实机之间的差异。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通过重力与状态噪声随机化，使策略适应推力建模误差。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501091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50976" y="5285232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50 Hz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5687568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策略运行频率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989320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9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机载 Orin NX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4736" y="5285232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60 Hz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4736" y="5687568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深度输入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4736" y="5989320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9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RealSense D456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8495" y="5285232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1.7 kg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8495" y="5687568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实机平台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8495" y="5989320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9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自研四旋翼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2.1 方法闭环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训练闭环把</a:t>
            </a:r>
            <a:r>
              <a:rPr sz="186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可微动力学</a:t>
            </a:r>
            <a:r>
              <a:rPr sz="18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展开为时间序列，通过损失函数对策略参数反向传播；部署闭环只保留神经策略和低层控制器。</a:t>
            </a:r>
          </a:p>
        </p:txBody>
      </p:sp>
      <p:sp>
        <p:nvSpPr>
          <p:cNvPr id="7" name="DIAG_BOX"/>
          <p:cNvSpPr/>
          <p:nvPr/>
        </p:nvSpPr>
        <p:spPr>
          <a:xfrm>
            <a:off x="694944" y="2761488"/>
            <a:ext cx="1444752" cy="676656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深度图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64×64</a:t>
            </a:r>
          </a:p>
        </p:txBody>
      </p:sp>
      <p:sp>
        <p:nvSpPr>
          <p:cNvPr id="8" name="DIAG_BOX"/>
          <p:cNvSpPr/>
          <p:nvPr/>
        </p:nvSpPr>
        <p:spPr>
          <a:xfrm>
            <a:off x="694944" y="3712464"/>
            <a:ext cx="1444752" cy="676656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目标信息vg, dg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9" name="DIAG_BOX"/>
          <p:cNvSpPr/>
          <p:nvPr/>
        </p:nvSpPr>
        <p:spPr>
          <a:xfrm>
            <a:off x="694944" y="4663440"/>
            <a:ext cx="1444752" cy="676656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状态估计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v, R</a:t>
            </a:r>
          </a:p>
        </p:txBody>
      </p:sp>
      <p:sp>
        <p:nvSpPr>
          <p:cNvPr id="10" name="DIAG_BOX"/>
          <p:cNvSpPr/>
          <p:nvPr/>
        </p:nvSpPr>
        <p:spPr>
          <a:xfrm>
            <a:off x="2779776" y="3474720"/>
            <a:ext cx="1536192" cy="841248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特征抽取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LayerNorm</a:t>
            </a:r>
          </a:p>
        </p:txBody>
      </p:sp>
      <p:sp>
        <p:nvSpPr>
          <p:cNvPr id="11" name="DIAG_BOX"/>
          <p:cNvSpPr/>
          <p:nvPr/>
        </p:nvSpPr>
        <p:spPr>
          <a:xfrm>
            <a:off x="4809744" y="3474720"/>
            <a:ext cx="1389888" cy="841248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GRU 记忆hₖ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2" name="DIAG_BOX"/>
          <p:cNvSpPr/>
          <p:nvPr/>
        </p:nvSpPr>
        <p:spPr>
          <a:xfrm>
            <a:off x="6675120" y="3474720"/>
            <a:ext cx="1408176" cy="841248"/>
          </a:xfrm>
          <a:prstGeom prst="rect">
            <a:avLst/>
          </a:prstGeom>
          <a:solidFill>
            <a:srgbClr val="FFEEEE"/>
          </a:solidFill>
          <a:ln w="12700">
            <a:solidFill>
              <a:srgbClr val="D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动作输出tₖ, ψₖ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3" name="DIAG_BOX"/>
          <p:cNvSpPr/>
          <p:nvPr/>
        </p:nvSpPr>
        <p:spPr>
          <a:xfrm>
            <a:off x="8540496" y="3474720"/>
            <a:ext cx="1920240" cy="841248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可微动力学sₖ₊₁=f(sₖ,uₖ)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4" name="DIAG_BOX"/>
          <p:cNvSpPr/>
          <p:nvPr/>
        </p:nvSpPr>
        <p:spPr>
          <a:xfrm>
            <a:off x="5266944" y="4727448"/>
            <a:ext cx="2011680" cy="749808"/>
          </a:xfrm>
          <a:prstGeom prst="rect">
            <a:avLst/>
          </a:prstGeom>
          <a:solidFill>
            <a:srgbClr val="F8F8F8"/>
          </a:solidFill>
          <a:ln w="12700">
            <a:solidFill>
              <a:srgbClr val="4E4E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损失累积L = Σ λᵢ Lᵢ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cxnSp>
        <p:nvCxnSpPr>
          <p:cNvPr id="15" name="DIAG_CONN"/>
          <p:cNvCxnSpPr/>
          <p:nvPr/>
        </p:nvCxnSpPr>
        <p:spPr>
          <a:xfrm>
            <a:off x="2139696" y="3099816"/>
            <a:ext cx="640080" cy="795528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DIAG_CONN"/>
          <p:cNvCxnSpPr/>
          <p:nvPr/>
        </p:nvCxnSpPr>
        <p:spPr>
          <a:xfrm flipV="1">
            <a:off x="2139696" y="3895344"/>
            <a:ext cx="640080" cy="155447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DIAG_CONN"/>
          <p:cNvCxnSpPr/>
          <p:nvPr/>
        </p:nvCxnSpPr>
        <p:spPr>
          <a:xfrm flipV="1">
            <a:off x="2139696" y="3895344"/>
            <a:ext cx="640080" cy="1106424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DIAG_CONN"/>
          <p:cNvCxnSpPr/>
          <p:nvPr/>
        </p:nvCxnSpPr>
        <p:spPr>
          <a:xfrm>
            <a:off x="4315968" y="3895344"/>
            <a:ext cx="493776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DIAG_CONN"/>
          <p:cNvCxnSpPr/>
          <p:nvPr/>
        </p:nvCxnSpPr>
        <p:spPr>
          <a:xfrm>
            <a:off x="6199632" y="3895344"/>
            <a:ext cx="475488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DIAG_CONN"/>
          <p:cNvCxnSpPr/>
          <p:nvPr/>
        </p:nvCxnSpPr>
        <p:spPr>
          <a:xfrm>
            <a:off x="8083296" y="3895344"/>
            <a:ext cx="457200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DIAG_CONN"/>
          <p:cNvCxnSpPr/>
          <p:nvPr/>
        </p:nvCxnSpPr>
        <p:spPr>
          <a:xfrm flipH="1">
            <a:off x="7242048" y="4315968"/>
            <a:ext cx="2249424" cy="41148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DIAG_CONN"/>
          <p:cNvCxnSpPr/>
          <p:nvPr/>
        </p:nvCxnSpPr>
        <p:spPr>
          <a:xfrm flipH="1" flipV="1">
            <a:off x="5504688" y="4315968"/>
            <a:ext cx="768096" cy="41148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94944" y="565099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5815584"/>
            <a:ext cx="10716768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训练期引入</a:t>
            </a:r>
            <a:r>
              <a:rPr sz="16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梯度、避障、平滑和航向损失；部署期不显式计算地图，策略直接输出推力和航向。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2.2 可微 point-mass 动力学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策略训练采用velocity Verlet积分的point‑mass模型，用较低计算代价保留对动作的可微梯度。</a:t>
            </a:r>
          </a:p>
        </p:txBody>
      </p:sp>
      <p:sp>
        <p:nvSpPr>
          <p:cNvPr id="7" name="MATH_LABEL"/>
          <p:cNvSpPr txBox="1"/>
          <p:nvPr/>
        </p:nvSpPr>
        <p:spPr>
          <a:xfrm>
            <a:off x="877824" y="2487168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(1)</a:t>
            </a:r>
          </a:p>
        </p:txBody>
      </p:sp>
      <p:sp>
        <p:nvSpPr>
          <p:cNvPr id="8" name="MATH_BODY"/>
          <p:cNvSpPr txBox="1"/>
          <p:nvPr/>
        </p:nvSpPr>
        <p:spPr>
          <a:xfrm>
            <a:off x="1664207" y="2487168"/>
            <a:ext cx="9637776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k+1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p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v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Δt + 1/2 a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(Δt)</a:t>
            </a:r>
            <a:r>
              <a:rPr sz="1512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9" name="MATH_LABEL"/>
          <p:cNvSpPr txBox="1"/>
          <p:nvPr/>
        </p:nvSpPr>
        <p:spPr>
          <a:xfrm>
            <a:off x="877824" y="2944368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(2)</a:t>
            </a:r>
          </a:p>
        </p:txBody>
      </p:sp>
      <p:sp>
        <p:nvSpPr>
          <p:cNvPr id="10" name="MATH_BODY"/>
          <p:cNvSpPr txBox="1"/>
          <p:nvPr/>
        </p:nvSpPr>
        <p:spPr>
          <a:xfrm>
            <a:off x="1664207" y="2944368"/>
            <a:ext cx="9637776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k+1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v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(a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a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k+1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 Δt / 2</a:t>
            </a:r>
          </a:p>
        </p:txBody>
      </p:sp>
      <p:sp>
        <p:nvSpPr>
          <p:cNvPr id="11" name="MATH_LABEL"/>
          <p:cNvSpPr txBox="1"/>
          <p:nvPr/>
        </p:nvSpPr>
        <p:spPr>
          <a:xfrm>
            <a:off x="877824" y="3401568"/>
            <a:ext cx="65836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(3)</a:t>
            </a:r>
          </a:p>
        </p:txBody>
      </p:sp>
      <p:sp>
        <p:nvSpPr>
          <p:cNvPr id="12" name="MATH_BODY"/>
          <p:cNvSpPr txBox="1"/>
          <p:nvPr/>
        </p:nvSpPr>
        <p:spPr>
          <a:xfrm>
            <a:off x="1664207" y="3401568"/>
            <a:ext cx="9637776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k+1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t</a:t>
            </a:r>
            <a:r>
              <a:rPr sz="1512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k+1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− [0, 0, g]</a:t>
            </a:r>
            <a:r>
              <a:rPr sz="1512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" y="398678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4206240"/>
            <a:ext cx="5340096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pₖ、vₖ、aₖ分别表示位置、速度和加速度，动作中的tₖ是质量归一化推力。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简化模型缩短训练时间，同时保留</a:t>
            </a:r>
            <a:r>
              <a:rPr sz="161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APG</a:t>
            </a: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对策略参数的直接梯度。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4206240"/>
            <a:ext cx="5047488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模型不显式积分姿态，机体z轴由推力方向确定，x轴由预测</a:t>
            </a:r>
            <a:r>
              <a:rPr sz="161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确定。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这种表示让策略同时学习推进方向和相机朝向。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4944" y="590702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6053328"/>
            <a:ext cx="1071676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因此，训练得到的策略既有可微优化效率，又保留了对机体朝向的显式控制入口。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2.3 策略网络结构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6307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网络把视觉、目标和状态编码到同一192维潜变量，再用</a:t>
            </a:r>
            <a:r>
              <a:rPr sz="187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GRU</a:t>
            </a: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维持时序一致性并输出控制动作。</a:t>
            </a:r>
          </a:p>
        </p:txBody>
      </p:sp>
      <p:sp>
        <p:nvSpPr>
          <p:cNvPr id="7" name="DIAG_BOX"/>
          <p:cNvSpPr/>
          <p:nvPr/>
        </p:nvSpPr>
        <p:spPr>
          <a:xfrm>
            <a:off x="713232" y="2816352"/>
            <a:ext cx="1170432" cy="640080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Depth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64×64</a:t>
            </a:r>
          </a:p>
        </p:txBody>
      </p:sp>
      <p:sp>
        <p:nvSpPr>
          <p:cNvPr id="8" name="DIAG_BOX"/>
          <p:cNvSpPr/>
          <p:nvPr/>
        </p:nvSpPr>
        <p:spPr>
          <a:xfrm>
            <a:off x="2395728" y="2816352"/>
            <a:ext cx="1499616" cy="640080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Conv + Pool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视觉特征</a:t>
            </a:r>
          </a:p>
        </p:txBody>
      </p:sp>
      <p:sp>
        <p:nvSpPr>
          <p:cNvPr id="9" name="DIAG_BOX"/>
          <p:cNvSpPr/>
          <p:nvPr/>
        </p:nvSpPr>
        <p:spPr>
          <a:xfrm>
            <a:off x="713232" y="3822191"/>
            <a:ext cx="1170432" cy="640080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Target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速度+距离</a:t>
            </a:r>
          </a:p>
        </p:txBody>
      </p:sp>
      <p:sp>
        <p:nvSpPr>
          <p:cNvPr id="10" name="DIAG_BOX"/>
          <p:cNvSpPr/>
          <p:nvPr/>
        </p:nvSpPr>
        <p:spPr>
          <a:xfrm>
            <a:off x="2395728" y="3822191"/>
            <a:ext cx="1499616" cy="640080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Linear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目标特征</a:t>
            </a:r>
          </a:p>
        </p:txBody>
      </p:sp>
      <p:sp>
        <p:nvSpPr>
          <p:cNvPr id="11" name="DIAG_BOX"/>
          <p:cNvSpPr/>
          <p:nvPr/>
        </p:nvSpPr>
        <p:spPr>
          <a:xfrm>
            <a:off x="713232" y="4828032"/>
            <a:ext cx="1170432" cy="640080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State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速度+姿态</a:t>
            </a:r>
          </a:p>
        </p:txBody>
      </p:sp>
      <p:sp>
        <p:nvSpPr>
          <p:cNvPr id="12" name="DIAG_BOX"/>
          <p:cNvSpPr/>
          <p:nvPr/>
        </p:nvSpPr>
        <p:spPr>
          <a:xfrm>
            <a:off x="2395728" y="4828032"/>
            <a:ext cx="1499616" cy="640080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Linear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状态特征</a:t>
            </a:r>
          </a:p>
        </p:txBody>
      </p:sp>
      <p:sp>
        <p:nvSpPr>
          <p:cNvPr id="13" name="DIAG_BOX"/>
          <p:cNvSpPr/>
          <p:nvPr/>
        </p:nvSpPr>
        <p:spPr>
          <a:xfrm>
            <a:off x="4535424" y="3767328"/>
            <a:ext cx="1737360" cy="749808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求和 + LayerNorm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(B, 192)</a:t>
            </a:r>
          </a:p>
        </p:txBody>
      </p:sp>
      <p:sp>
        <p:nvSpPr>
          <p:cNvPr id="14" name="DIAG_BOX"/>
          <p:cNvSpPr/>
          <p:nvPr/>
        </p:nvSpPr>
        <p:spPr>
          <a:xfrm>
            <a:off x="6784848" y="3767328"/>
            <a:ext cx="1572768" cy="749808"/>
          </a:xfrm>
          <a:prstGeom prst="rect">
            <a:avLst/>
          </a:prstGeom>
          <a:solidFill>
            <a:srgbClr val="E2F1FB"/>
          </a:solidFill>
          <a:ln w="12700">
            <a:solidFill>
              <a:srgbClr val="0079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GRUCellhₖ₋₁→hₖ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5" name="DIAG_BOX"/>
          <p:cNvSpPr/>
          <p:nvPr/>
        </p:nvSpPr>
        <p:spPr>
          <a:xfrm>
            <a:off x="8942832" y="3767328"/>
            <a:ext cx="1572768" cy="749808"/>
          </a:xfrm>
          <a:prstGeom prst="rect">
            <a:avLst/>
          </a:prstGeom>
          <a:solidFill>
            <a:srgbClr val="FFEEEE"/>
          </a:solidFill>
          <a:ln w="12700">
            <a:solidFill>
              <a:srgbClr val="D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Linear 输出[tₖ, ψₖ]</a:t>
            </a:r>
            <a:br/>
            <a:r>
              <a:rPr sz="14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cxnSp>
        <p:nvCxnSpPr>
          <p:cNvPr id="16" name="DIAG_CONN"/>
          <p:cNvCxnSpPr/>
          <p:nvPr/>
        </p:nvCxnSpPr>
        <p:spPr>
          <a:xfrm>
            <a:off x="1883664" y="3136392"/>
            <a:ext cx="512064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DIAG_CONN"/>
          <p:cNvCxnSpPr/>
          <p:nvPr/>
        </p:nvCxnSpPr>
        <p:spPr>
          <a:xfrm>
            <a:off x="3895344" y="3136392"/>
            <a:ext cx="640080" cy="100584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DIAG_CONN"/>
          <p:cNvCxnSpPr/>
          <p:nvPr/>
        </p:nvCxnSpPr>
        <p:spPr>
          <a:xfrm>
            <a:off x="1883664" y="4142232"/>
            <a:ext cx="512064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DIAG_CONN"/>
          <p:cNvCxnSpPr/>
          <p:nvPr/>
        </p:nvCxnSpPr>
        <p:spPr>
          <a:xfrm>
            <a:off x="3895344" y="4142232"/>
            <a:ext cx="640080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DIAG_CONN"/>
          <p:cNvCxnSpPr/>
          <p:nvPr/>
        </p:nvCxnSpPr>
        <p:spPr>
          <a:xfrm>
            <a:off x="1883664" y="5148072"/>
            <a:ext cx="512064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DIAG_CONN"/>
          <p:cNvCxnSpPr/>
          <p:nvPr/>
        </p:nvCxnSpPr>
        <p:spPr>
          <a:xfrm flipV="1">
            <a:off x="3895344" y="4142232"/>
            <a:ext cx="640080" cy="100584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DIAG_CONN"/>
          <p:cNvCxnSpPr/>
          <p:nvPr/>
        </p:nvCxnSpPr>
        <p:spPr>
          <a:xfrm>
            <a:off x="6272784" y="4142232"/>
            <a:ext cx="512064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DIAG_CONN"/>
          <p:cNvCxnSpPr/>
          <p:nvPr/>
        </p:nvCxnSpPr>
        <p:spPr>
          <a:xfrm>
            <a:off x="8357616" y="4142232"/>
            <a:ext cx="585216" cy="0"/>
          </a:xfrm>
          <a:prstGeom prst="line">
            <a:avLst/>
          </a:prstGeom>
          <a:ln w="14604">
            <a:solidFill>
              <a:srgbClr val="4E4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94944" y="557784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13232" y="576072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相较固定朝向策略，本文额外预测 ψₖ；相较纯前馈网络，GRU能缓解单帧深度图带来的局部感知不完整。</a:t>
            </a:r>
            <a:r>
              <a:rPr sz="16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/>
            </a:r>
            <a:r>
              <a:rPr sz="16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2.4 避障与平滑损失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损失函数同时约束障碍距离、碰撞速度、加速度、jerk和角速度，使单步动作序列形成可执行轨迹。</a:t>
            </a:r>
          </a:p>
        </p:txBody>
      </p:sp>
      <p:sp>
        <p:nvSpPr>
          <p:cNvPr id="7" name="MATH_LABEL"/>
          <p:cNvSpPr txBox="1"/>
          <p:nvPr/>
        </p:nvSpPr>
        <p:spPr>
          <a:xfrm>
            <a:off x="768096" y="2359152"/>
            <a:ext cx="658368" cy="3302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(4)</a:t>
            </a:r>
          </a:p>
        </p:txBody>
      </p:sp>
      <p:sp>
        <p:nvSpPr>
          <p:cNvPr id="8" name="MATH_BODY"/>
          <p:cNvSpPr txBox="1"/>
          <p:nvPr/>
        </p:nvSpPr>
        <p:spPr>
          <a:xfrm>
            <a:off x="1554480" y="2359152"/>
            <a:ext cx="9912096" cy="3302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clearance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(1/T) Σ β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ln(1 + exp(β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(d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− r)))</a:t>
            </a:r>
          </a:p>
        </p:txBody>
      </p:sp>
      <p:sp>
        <p:nvSpPr>
          <p:cNvPr id="9" name="MATH_LABEL"/>
          <p:cNvSpPr txBox="1"/>
          <p:nvPr/>
        </p:nvSpPr>
        <p:spPr>
          <a:xfrm>
            <a:off x="768096" y="2743200"/>
            <a:ext cx="658368" cy="3302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(5)</a:t>
            </a:r>
          </a:p>
        </p:txBody>
      </p:sp>
      <p:sp>
        <p:nvSpPr>
          <p:cNvPr id="10" name="MATH_BODY"/>
          <p:cNvSpPr txBox="1"/>
          <p:nvPr/>
        </p:nvSpPr>
        <p:spPr>
          <a:xfrm>
            <a:off x="1554480" y="2743200"/>
            <a:ext cx="9912096" cy="3302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collision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(1/T) Σ ||v</a:t>
            </a:r>
            <a:r>
              <a:rPr sz="1368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|| max(1 − (d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− r), 0)</a:t>
            </a:r>
            <a:r>
              <a:rPr sz="1368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1" name="MATH_LABEL"/>
          <p:cNvSpPr txBox="1"/>
          <p:nvPr/>
        </p:nvSpPr>
        <p:spPr>
          <a:xfrm>
            <a:off x="768096" y="3127248"/>
            <a:ext cx="658368" cy="3302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(6)</a:t>
            </a:r>
          </a:p>
        </p:txBody>
      </p:sp>
      <p:sp>
        <p:nvSpPr>
          <p:cNvPr id="12" name="MATH_BODY"/>
          <p:cNvSpPr txBox="1"/>
          <p:nvPr/>
        </p:nvSpPr>
        <p:spPr>
          <a:xfrm>
            <a:off x="1554480" y="3127248"/>
            <a:ext cx="9912096" cy="3302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acc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(1/T) Σ ||a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||</a:t>
            </a:r>
            <a:r>
              <a:rPr sz="1368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3" name="MATH_LABEL"/>
          <p:cNvSpPr txBox="1"/>
          <p:nvPr/>
        </p:nvSpPr>
        <p:spPr>
          <a:xfrm>
            <a:off x="768096" y="3511296"/>
            <a:ext cx="658368" cy="3302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(7)</a:t>
            </a:r>
          </a:p>
        </p:txBody>
      </p:sp>
      <p:sp>
        <p:nvSpPr>
          <p:cNvPr id="14" name="MATH_BODY"/>
          <p:cNvSpPr txBox="1"/>
          <p:nvPr/>
        </p:nvSpPr>
        <p:spPr>
          <a:xfrm>
            <a:off x="1554480" y="3511296"/>
            <a:ext cx="9912096" cy="3302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jerk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(1/(T−1)) Σ ||(a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k+1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− a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)/Δt||</a:t>
            </a:r>
            <a:r>
              <a:rPr sz="1368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5" name="MATH_LABEL"/>
          <p:cNvSpPr txBox="1"/>
          <p:nvPr/>
        </p:nvSpPr>
        <p:spPr>
          <a:xfrm>
            <a:off x="768096" y="3895344"/>
            <a:ext cx="658368" cy="3302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(8)</a:t>
            </a:r>
          </a:p>
        </p:txBody>
      </p:sp>
      <p:sp>
        <p:nvSpPr>
          <p:cNvPr id="16" name="MATH_BODY"/>
          <p:cNvSpPr txBox="1"/>
          <p:nvPr/>
        </p:nvSpPr>
        <p:spPr>
          <a:xfrm>
            <a:off x="1554480" y="3895344"/>
            <a:ext cx="9912096" cy="3302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ω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(1/T) Σ ||ω</a:t>
            </a:r>
            <a:r>
              <a:rPr sz="1368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9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||</a:t>
            </a:r>
            <a:r>
              <a:rPr sz="1368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4944" y="440740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4608576"/>
            <a:ext cx="10716768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距离项提供软安全距离，碰撞项抑制朝障碍方向的速度分量。</a:t>
            </a:r>
          </a:p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加速度、jerk和角速度项让控制输出在时间上连续，降低高速飞行时的姿态突变。</a:t>
            </a:r>
          </a:p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这组损失主要处理局部安全与可执行性，仍需要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和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项补足全局绕行与视觉朝向。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4944" y="561441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32688" y="5797296"/>
            <a:ext cx="332841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距离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6199632"/>
            <a:ext cx="3328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安全裕度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6501383"/>
            <a:ext cx="332841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远离障碍表面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0831" y="5797296"/>
            <a:ext cx="332841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速度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0831" y="6199632"/>
            <a:ext cx="3328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碰撞风险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0831" y="6501383"/>
            <a:ext cx="332841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抑制朝障碍运动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08975" y="5797296"/>
            <a:ext cx="332841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平滑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8975" y="6199632"/>
            <a:ext cx="3328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控制连续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08975" y="6501383"/>
            <a:ext cx="332841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保证轨迹可执行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2.5 目标速度与航向对齐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目标速度损失负责沿期望方向推进，</a:t>
            </a:r>
            <a:r>
              <a:rPr sz="187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对齐损失负责让机头朝向与运动方向一致。</a:t>
            </a:r>
          </a:p>
        </p:txBody>
      </p:sp>
      <p:sp>
        <p:nvSpPr>
          <p:cNvPr id="7" name="MATH_LABEL"/>
          <p:cNvSpPr txBox="1"/>
          <p:nvPr/>
        </p:nvSpPr>
        <p:spPr>
          <a:xfrm>
            <a:off x="859536" y="2596896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(9)</a:t>
            </a:r>
          </a:p>
        </p:txBody>
      </p:sp>
      <p:sp>
        <p:nvSpPr>
          <p:cNvPr id="8" name="MATH_BODY"/>
          <p:cNvSpPr txBox="1"/>
          <p:nvPr/>
        </p:nvSpPr>
        <p:spPr>
          <a:xfrm>
            <a:off x="1645919" y="2596896"/>
            <a:ext cx="963777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439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(1/T) Σ SmoothL1( ||v</a:t>
            </a:r>
            <a:r>
              <a:rPr sz="1439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set</a:t>
            </a:r>
            <a:r>
              <a:rPr sz="1439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− v̄</a:t>
            </a:r>
            <a:r>
              <a:rPr sz="1439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||, 0 )</a:t>
            </a:r>
          </a:p>
        </p:txBody>
      </p:sp>
      <p:sp>
        <p:nvSpPr>
          <p:cNvPr id="9" name="MATH_LABEL"/>
          <p:cNvSpPr txBox="1"/>
          <p:nvPr/>
        </p:nvSpPr>
        <p:spPr>
          <a:xfrm>
            <a:off x="859536" y="3072384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(10)</a:t>
            </a:r>
          </a:p>
        </p:txBody>
      </p:sp>
      <p:sp>
        <p:nvSpPr>
          <p:cNvPr id="10" name="MATH_BODY"/>
          <p:cNvSpPr txBox="1"/>
          <p:nvPr/>
        </p:nvSpPr>
        <p:spPr>
          <a:xfrm>
            <a:off x="1645919" y="3072384"/>
            <a:ext cx="963777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439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vmax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(1/T) Σ max( ||v</a:t>
            </a:r>
            <a:r>
              <a:rPr sz="1439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|| − v</a:t>
            </a:r>
            <a:r>
              <a:rPr sz="1439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max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0)</a:t>
            </a:r>
            <a:r>
              <a:rPr sz="1439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1" name="MATH_LABEL"/>
          <p:cNvSpPr txBox="1"/>
          <p:nvPr/>
        </p:nvSpPr>
        <p:spPr>
          <a:xfrm>
            <a:off x="859536" y="3547872"/>
            <a:ext cx="658368" cy="408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(11)</a:t>
            </a:r>
          </a:p>
        </p:txBody>
      </p:sp>
      <p:sp>
        <p:nvSpPr>
          <p:cNvPr id="12" name="MATH_BODY"/>
          <p:cNvSpPr txBox="1"/>
          <p:nvPr/>
        </p:nvSpPr>
        <p:spPr>
          <a:xfrm>
            <a:off x="1645919" y="3547872"/>
            <a:ext cx="9637776" cy="4089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483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20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= − (1/T) Σ x</a:t>
            </a:r>
            <a:r>
              <a:rPr sz="1483" b="0" baseline="30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</a:t>
            </a:r>
            <a:r>
              <a:rPr sz="1483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0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· ṽ</a:t>
            </a:r>
            <a:r>
              <a:rPr sz="1483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" y="426110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4462272"/>
            <a:ext cx="5175504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移动平均速度用于避免单步避障动作被错误惩罚。</a:t>
            </a:r>
          </a:p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速度上限项限制过大速度，防止推力输出发散。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4462272"/>
            <a:ext cx="5138928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机体系前向轴与指数加权速度方向越一致，航向损失越小。</a:t>
            </a:r>
          </a:p>
          <a:p>
            <a:pPr algn="l" marL="350000" indent="-120000">
              <a:lnSpc>
                <a:spcPct val="91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该项使相机视野更贴合真实运动方向，改善绕大障碍时的视觉闭环。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4944" y="559612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32688" y="5779008"/>
            <a:ext cx="332841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目标速度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6181344"/>
            <a:ext cx="3328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推进方向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6483096"/>
            <a:ext cx="332841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沿 ToA/目标速度前进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0831" y="5779008"/>
            <a:ext cx="332841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速度边界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1" y="6181344"/>
            <a:ext cx="3328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推力约束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0831" y="6483096"/>
            <a:ext cx="332841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限制过大推力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8975" y="5779008"/>
            <a:ext cx="3328415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39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航向对齐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8975" y="6181344"/>
            <a:ext cx="3328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机头朝向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08975" y="6483096"/>
            <a:ext cx="332841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视野贴合运动方向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2.6 ToA 特权信息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map只在训练期提供全局路径方向，帮助反应式策略从深度图中学习绕开凹形障碍。</a:t>
            </a:r>
          </a:p>
        </p:txBody>
      </p:sp>
      <p:pic>
        <p:nvPicPr>
          <p:cNvPr id="7" name="Picture 6" descr="fig4_toa_map_paths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786384" y="2583769"/>
            <a:ext cx="5065776" cy="2696300"/>
          </a:xfrm>
          <a:prstGeom prst="rect">
            <a:avLst/>
          </a:prstGeom>
        </p:spPr>
      </p:pic>
      <p:sp>
        <p:nvSpPr>
          <p:cNvPr id="8" name="MATH_LABEL"/>
          <p:cNvSpPr txBox="1"/>
          <p:nvPr/>
        </p:nvSpPr>
        <p:spPr>
          <a:xfrm>
            <a:off x="6163056" y="2670048"/>
            <a:ext cx="640080" cy="361736"/>
          </a:xfrm>
          <a:prstGeom prst="rect">
            <a:avLst/>
          </a:prstGeom>
          <a:noFill/>
        </p:spPr>
      </p:sp>
      <p:sp>
        <p:nvSpPr>
          <p:cNvPr id="9" name="MATH_BODY"/>
          <p:cNvSpPr txBox="1"/>
          <p:nvPr/>
        </p:nvSpPr>
        <p:spPr>
          <a:xfrm>
            <a:off x="6949440" y="2670048"/>
            <a:ext cx="4334255" cy="361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|∇T(x)| F(x) = 1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6163056" y="3090672"/>
            <a:ext cx="640080" cy="361736"/>
          </a:xfrm>
          <a:prstGeom prst="rect">
            <a:avLst/>
          </a:prstGeom>
          <a:noFill/>
        </p:spPr>
      </p:sp>
      <p:sp>
        <p:nvSpPr>
          <p:cNvPr id="11" name="MATH_BODY"/>
          <p:cNvSpPr txBox="1"/>
          <p:nvPr/>
        </p:nvSpPr>
        <p:spPr>
          <a:xfrm>
            <a:off x="6949440" y="3090672"/>
            <a:ext cx="4334255" cy="361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F(x) = md(x) + (vₛ − mr),  d(x) ≤ dₛ</a:t>
            </a:r>
          </a:p>
        </p:txBody>
      </p:sp>
      <p:sp>
        <p:nvSpPr>
          <p:cNvPr id="12" name="MATH_LABEL"/>
          <p:cNvSpPr txBox="1"/>
          <p:nvPr/>
        </p:nvSpPr>
        <p:spPr>
          <a:xfrm>
            <a:off x="6163056" y="3511296"/>
            <a:ext cx="640080" cy="361736"/>
          </a:xfrm>
          <a:prstGeom prst="rect">
            <a:avLst/>
          </a:prstGeom>
          <a:noFill/>
        </p:spPr>
      </p:sp>
      <p:sp>
        <p:nvSpPr>
          <p:cNvPr id="13" name="MATH_BODY"/>
          <p:cNvSpPr txBox="1"/>
          <p:nvPr/>
        </p:nvSpPr>
        <p:spPr>
          <a:xfrm>
            <a:off x="6949440" y="3511296"/>
            <a:ext cx="4334255" cy="361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F(x) = 1,  d(x) &gt; dₛ</a:t>
            </a:r>
          </a:p>
        </p:txBody>
      </p:sp>
      <p:sp>
        <p:nvSpPr>
          <p:cNvPr id="14" name="MATH_LABEL"/>
          <p:cNvSpPr txBox="1"/>
          <p:nvPr/>
        </p:nvSpPr>
        <p:spPr>
          <a:xfrm>
            <a:off x="6163056" y="3931920"/>
            <a:ext cx="640080" cy="361736"/>
          </a:xfrm>
          <a:prstGeom prst="rect">
            <a:avLst/>
          </a:prstGeom>
          <a:noFill/>
        </p:spPr>
      </p:sp>
      <p:sp>
        <p:nvSpPr>
          <p:cNvPr id="15" name="MATH_BODY"/>
          <p:cNvSpPr txBox="1"/>
          <p:nvPr/>
        </p:nvSpPr>
        <p:spPr>
          <a:xfrm>
            <a:off x="6949440" y="3931920"/>
            <a:ext cx="4334255" cy="361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 = (dₛ − vₛ) / (dₛ − r)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4944" y="552297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5687568"/>
            <a:ext cx="10716768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T(x) 是到达目标的最短时间，负梯度给出v^setₖ的方向；F(x) 在障碍附近降低传播速度，使路径远离表面。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2.7 总目标函数与训练过程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训练目标是多个物理可解释损失项的加权组合，通过</a:t>
            </a:r>
            <a:r>
              <a:rPr sz="187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BPTT</a:t>
            </a: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在时间维度累积梯度。</a:t>
            </a:r>
          </a:p>
        </p:txBody>
      </p:sp>
      <p:sp>
        <p:nvSpPr>
          <p:cNvPr id="7" name="MATH_LABEL"/>
          <p:cNvSpPr txBox="1"/>
          <p:nvPr/>
        </p:nvSpPr>
        <p:spPr>
          <a:xfrm>
            <a:off x="768096" y="2395728"/>
            <a:ext cx="658368" cy="361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39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(14)</a:t>
            </a:r>
          </a:p>
        </p:txBody>
      </p:sp>
      <p:sp>
        <p:nvSpPr>
          <p:cNvPr id="8" name="MATH_BODY"/>
          <p:cNvSpPr txBox="1"/>
          <p:nvPr/>
        </p:nvSpPr>
        <p:spPr>
          <a:xfrm>
            <a:off x="1554480" y="2395728"/>
            <a:ext cx="10003536" cy="361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 =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acc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acc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jerk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jerk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ω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ω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vmax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vmax</a:t>
            </a:r>
          </a:p>
        </p:txBody>
      </p:sp>
      <p:sp>
        <p:nvSpPr>
          <p:cNvPr id="9" name="MATH_LABEL"/>
          <p:cNvSpPr txBox="1"/>
          <p:nvPr/>
        </p:nvSpPr>
        <p:spPr>
          <a:xfrm>
            <a:off x="768096" y="2816352"/>
            <a:ext cx="658368" cy="361736"/>
          </a:xfrm>
          <a:prstGeom prst="rect">
            <a:avLst/>
          </a:prstGeom>
          <a:noFill/>
        </p:spPr>
      </p:sp>
      <p:sp>
        <p:nvSpPr>
          <p:cNvPr id="10" name="MATH_BODY"/>
          <p:cNvSpPr txBox="1"/>
          <p:nvPr/>
        </p:nvSpPr>
        <p:spPr>
          <a:xfrm>
            <a:off x="1554480" y="2816352"/>
            <a:ext cx="10003536" cy="361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  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clearance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clearance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collision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collision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+ λ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8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</a:t>
            </a:r>
            <a:r>
              <a:rPr sz="1324" b="0" baseline="-25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yaw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4944" y="341985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7824" y="3602736"/>
            <a:ext cx="337108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3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005072"/>
            <a:ext cx="3371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稳定阶段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06824"/>
            <a:ext cx="337108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空环境 + 无碰撞损失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8640" y="3602736"/>
            <a:ext cx="337108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3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8640" y="4005072"/>
            <a:ext cx="3371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训练迭代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58640" y="4306824"/>
            <a:ext cx="337108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BPTT 展开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9456" y="3602736"/>
            <a:ext cx="337108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3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9456" y="4005072"/>
            <a:ext cx="3371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离线预计算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39456" y="4306824"/>
            <a:ext cx="337108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7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训练环境复用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4944" y="4791456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13232" y="5010912"/>
            <a:ext cx="532180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训练环境由随机primitive障碍构成，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map预先计算并在训练中反复复用。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前500次迭代使用空环境和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无碰撞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损失稳定梯度，随后进入完整环境训练。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784" y="5010912"/>
            <a:ext cx="513892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BPTT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展开多个时间步，时间梯度衰减避免远期梯度主导训练。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策略学习到的不是显式地图，而是从深度图推断全局绕行线索的反应式行为。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2.8 姿态控制与 sim-to-real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实机部署使用带body rate反馈的姿态控制器，把策略输出的推力和航向转成可执行的刚体控制。</a:t>
            </a:r>
          </a:p>
        </p:txBody>
      </p:sp>
      <p:pic>
        <p:nvPicPr>
          <p:cNvPr id="7" name="Picture 6" descr="fig6_attitude_control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960300" y="2560320"/>
            <a:ext cx="2681366" cy="2560320"/>
          </a:xfrm>
          <a:prstGeom prst="rect">
            <a:avLst/>
          </a:prstGeom>
        </p:spPr>
      </p:pic>
      <p:sp>
        <p:nvSpPr>
          <p:cNvPr id="8" name="MATH_LABEL"/>
          <p:cNvSpPr txBox="1"/>
          <p:nvPr/>
        </p:nvSpPr>
        <p:spPr>
          <a:xfrm>
            <a:off x="6199632" y="2670048"/>
            <a:ext cx="640080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(15)</a:t>
            </a:r>
          </a:p>
        </p:txBody>
      </p:sp>
      <p:sp>
        <p:nvSpPr>
          <p:cNvPr id="9" name="MATH_BODY"/>
          <p:cNvSpPr txBox="1"/>
          <p:nvPr/>
        </p:nvSpPr>
        <p:spPr>
          <a:xfrm>
            <a:off x="6986016" y="2670048"/>
            <a:ext cx="4297679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ωd = J(ϕ, θ) [ ϕ̇, θ̇, ψ̇ ]^T</a:t>
            </a:r>
          </a:p>
        </p:txBody>
      </p:sp>
      <p:sp>
        <p:nvSpPr>
          <p:cNvPr id="10" name="MATH_LABEL"/>
          <p:cNvSpPr txBox="1"/>
          <p:nvPr/>
        </p:nvSpPr>
        <p:spPr>
          <a:xfrm>
            <a:off x="6199632" y="3108960"/>
            <a:ext cx="640080" cy="377464"/>
          </a:xfrm>
          <a:prstGeom prst="rect">
            <a:avLst/>
          </a:prstGeom>
          <a:noFill/>
        </p:spPr>
      </p:sp>
      <p:sp>
        <p:nvSpPr>
          <p:cNvPr id="11" name="MATH_BODY"/>
          <p:cNvSpPr txBox="1"/>
          <p:nvPr/>
        </p:nvSpPr>
        <p:spPr>
          <a:xfrm>
            <a:off x="6986016" y="3108960"/>
            <a:ext cx="4297679" cy="377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Rd: zᵦ ∥ F,  xᵦ aligned with predicted yaw ψd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4496" y="3877056"/>
            <a:ext cx="5102352" cy="1207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只跟踪姿态会产生约200 ms控制滞后，快速避障时会推迟转向。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加入 ωd后，期望pitch/roll与实际响应更同步。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" y="541324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5614416"/>
            <a:ext cx="10716768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该控制层让训练中的point‑mass动作能够落到实机姿态跟踪上，是仿真策略飞到真实四旋翼的关键环节。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2.9 域随机化设计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域随机化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让策略在训练中见到推力、初始状态和传感噪声扰动，从而在实机中补偿模型误差。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8" y="2560320"/>
          <a:ext cx="5504688" cy="267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4896"/>
                <a:gridCol w="1834896"/>
                <a:gridCol w="1834896"/>
              </a:tblGrid>
              <a:tr h="44500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变量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分布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作用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44500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N(9.81, 1.5²)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补偿推力-转速映射偏差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z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U(0.5, 2.5)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覆盖不同起飞高度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vₜ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U(1, 5)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覆盖不同目标速度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vₙ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N(0, 0.05²)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模拟状态估计误差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44500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rₙ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N(0, 0.02²)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9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模拟姿态观测误差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65392" y="2615184"/>
            <a:ext cx="4645152" cy="2359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4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策略输出质量归一化推力，真实电机效率和电池电压会改变实际加速度。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4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随机化重力迫使策略从速度反馈中学习闭环补偿，而不是死记1g悬停推力。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4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状态噪声提升对VINS、深度图和姿态估计误差的鲁棒性。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4944" y="550468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5687568"/>
            <a:ext cx="10716768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硬件消融表明，加入重力随机化后策略会主动输出约1.3g初始推力并稳定到目标高度。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3.1 仿真与实机实验设置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实验覆盖photorealistic仿真、消融对比和户外实机飞行，用同一策略检验训练信号的泛化能力。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42032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9808" y="2834640"/>
            <a:ext cx="256946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1,350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236976"/>
            <a:ext cx="25694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仿真试验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538728"/>
            <a:ext cx="25694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11 个环境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834640"/>
            <a:ext cx="256946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3 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236976"/>
            <a:ext cx="25694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对比方法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538728"/>
            <a:ext cx="25694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BNL / yaw w/o ToA / 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2834640"/>
            <a:ext cx="256946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20 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3236976"/>
            <a:ext cx="25694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户外飞行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3538728"/>
            <a:ext cx="25694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无碰撞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7384" y="2834640"/>
            <a:ext cx="2569464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4 m/s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3236976"/>
            <a:ext cx="25694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最高速度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7384" y="3538728"/>
            <a:ext cx="25694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实机测试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4944" y="422452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13232" y="4462272"/>
            <a:ext cx="5266944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仿真环境包括Cave、Industry、Mine、Sewer等OOD场景，使用Flightmare渲染深度图。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评估时不访问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map，策略只用深度、目标和状态输出动作。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4462272"/>
            <a:ext cx="5102352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硬件平台配备RealSense D456、Lightware测距、VINS和Orin NX。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测试覆盖白天林地、夜间LED辅助场地和起降高度消融。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3.2 仿真成功率与失败模式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完整方法在11个复杂环境上达到最高总体成功率，并显著降低碰撞失败比例。</a:t>
            </a:r>
          </a:p>
        </p:txBody>
      </p:sp>
      <p:pic>
        <p:nvPicPr>
          <p:cNvPr id="7" name="Picture 6" descr="fig7_success_modes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790442" y="2322576"/>
            <a:ext cx="8717795" cy="2670048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694944" y="521208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5413248"/>
            <a:ext cx="10716768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Ours总体成功率为</a:t>
            </a:r>
            <a:r>
              <a:rPr sz="161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86%</a:t>
            </a: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，高于BNL和去掉</a:t>
            </a:r>
            <a:r>
              <a:rPr sz="161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的yaw w/o </a:t>
            </a:r>
            <a:r>
              <a:rPr sz="161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Mine场景仍然困难，说明单纯反应式记忆对长回退路径的空间推理能力有限。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3.3 轨迹对比：Yaw 与 ToA 的互补作用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轨迹图显示，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对齐解决朝向问题，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梯度进一步提供绕过凹形障碍的方向线索。</a:t>
            </a:r>
          </a:p>
        </p:txBody>
      </p:sp>
      <p:pic>
        <p:nvPicPr>
          <p:cNvPr id="7" name="Picture 6" descr="fig8_traj_compariso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804672" y="3000600"/>
            <a:ext cx="5285232" cy="17894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73952" y="2395728"/>
            <a:ext cx="475488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5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BNL固定朝向目标，遇到大墙体时轨迹贴近障碍并失败。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5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w/o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能转向，但在凹形区域仍可能沿局部方向超时。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5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w 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同时具备重定向和全局路径诱导，更容易绕开墙体并到达目标。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5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该结果说明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的价值不是部署期建图，而是训练期形成隐式绕行先验。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4944" y="566928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50976" y="5724144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BNL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6126480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固定航向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6428231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大障碍易失败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4736" y="5724144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4736" y="6126480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改善转向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4736" y="6428231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仍缺少全局方向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8495" y="5724144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 + ToA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8495" y="6126480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完整方法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8495" y="6428231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成功绕障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3.4 域随机化硬件消融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重力随机化让策略学会从速度反馈中补偿推力误差，实机悬停时高度误差明显减小。</a:t>
            </a:r>
          </a:p>
        </p:txBody>
      </p:sp>
      <p:pic>
        <p:nvPicPr>
          <p:cNvPr id="7" name="Picture 6" descr="fig9_gravity_randomizatio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694944" y="2483750"/>
            <a:ext cx="5705856" cy="26951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11696" y="2468880"/>
            <a:ext cx="4535424" cy="248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4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未随机化策略初始输出接近1g，进入自主模式后快速掉高。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4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随机化策略起始推力可升至约1.3g，抵消实机推力模型偏差。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4"/>
              </a:spcAft>
            </a:pPr>
            <a:r>
              <a:rPr sz="161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论文指出实际悬停可能需要约1.15g，而不是理想模型中的1g。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4944" y="563270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5815584"/>
            <a:ext cx="10716768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该消融把训练随机化和实机稳定性直接对应起来，是本文sim‑to‑real论证中最清晰的证据。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3.5 户外与夜间实机飞行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策略部署到自研四旋翼后，在白天林地和夜间障碍场中完成高速</a:t>
            </a:r>
            <a:r>
              <a:rPr sz="185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无碰撞</a:t>
            </a:r>
            <a:r>
              <a:rPr sz="18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飞行。</a:t>
            </a:r>
          </a:p>
        </p:txBody>
      </p:sp>
      <p:pic>
        <p:nvPicPr>
          <p:cNvPr id="7" name="Picture 6" descr="fig10_forest_navigatio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757610" y="2286000"/>
            <a:ext cx="3141610" cy="2596896"/>
          </a:xfrm>
          <a:prstGeom prst="rect">
            <a:avLst/>
          </a:prstGeom>
        </p:spPr>
      </p:pic>
      <p:pic>
        <p:nvPicPr>
          <p:cNvPr id="8" name="Picture 7" descr="fig11_night_flight.png"/>
          <p:cNvPicPr>
            <a:picLocks noChangeAspect="1"/>
          </p:cNvPicPr>
          <p:nvPr/>
        </p:nvPicPr>
        <p:blipFill>
          <a:blip ns2:embed="rId4"/>
          <a:stretch>
            <a:fillRect/>
          </a:stretch>
        </p:blipFill>
        <p:spPr>
          <a:xfrm>
            <a:off x="6490402" y="2286000"/>
            <a:ext cx="4703691" cy="2596896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94944" y="517550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5376672"/>
            <a:ext cx="10716768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林地实验中，策略利用深度输入和速度反馈穿过低矮枝叶，速度最高约3.8 m/s。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夜间实验依赖LED辅助与长曝光轨迹记录，说明策略在低光照障碍场中仍能闭环避障。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结论与启发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4.1 结果总结与局限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本文证明：训练期的全局</a:t>
            </a:r>
            <a:r>
              <a:rPr sz="18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特权信息</a:t>
            </a:r>
            <a:r>
              <a:rPr sz="188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可以转化为部署期的反应式视觉策略，而不必在实机上维护显式地图。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7860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7824" y="2852928"/>
            <a:ext cx="337108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86%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255264"/>
            <a:ext cx="3371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仿真成功率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557016"/>
            <a:ext cx="337108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Ours 总体表现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8640" y="2852928"/>
            <a:ext cx="337108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20 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8640" y="3255264"/>
            <a:ext cx="3371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户外飞行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8640" y="3557016"/>
            <a:ext cx="337108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全程无碰撞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9456" y="2852928"/>
            <a:ext cx="3371088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2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589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9456" y="3255264"/>
            <a:ext cx="3371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实机里程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9456" y="3557016"/>
            <a:ext cx="337108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最高 4 m/s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4944" y="4023360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4261104"/>
            <a:ext cx="5266944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优势来自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训练监督与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Yaw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对齐项的组合：一个提供绕行方向，一个提供相机朝向。</a:t>
            </a:r>
          </a:p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实机结果说明</a:t>
            </a:r>
            <a:r>
              <a:rPr sz="160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域随机化</a:t>
            </a: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和body rate控制能有效弥合point‑mass训练与刚体飞行。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4261104"/>
            <a:ext cx="5138928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Mine这类需要回退和长时记忆的迷宫环境仍然困难。</a:t>
            </a:r>
          </a:p>
          <a:p>
            <a:pPr algn="l" marL="350000" indent="-120000">
              <a:lnSpc>
                <a:spcPct val="90000"/>
              </a:lnSpc>
              <a:spcBef>
                <a:spcPts val="0"/>
              </a:spcBef>
              <a:spcAft>
                <a:spcPts val="1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初始yaw振荡仍存在，说明航向预测和时序记忆还有优化空间。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4944" y="5541264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13232" y="5724144"/>
            <a:ext cx="10716768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对该类研究而言，更强的learned memory和显式不确定性建模，是把该类策略扩展到长航程任务的关键。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结论与启发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841248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4.2 对无人机研究的启发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1088136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8"/>
              </a:spcAft>
            </a:pPr>
            <a:r>
              <a:rPr sz="187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这篇论文的价值不在于单一网络结构，而在于把训练期全局信息、部署期低延迟和实机可控性统一起来。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257860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3232" y="2834640"/>
            <a:ext cx="5193792" cy="1956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4"/>
              </a:spcAft>
            </a:pP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训练监督可以比部署感知更强：</a:t>
            </a:r>
            <a:r>
              <a:rPr sz="163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ToA</a:t>
            </a: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、ESDF、可达域或拓扑图都可作为特权信号。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4"/>
              </a:spcAft>
            </a:pP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部署策略仍需要保持轻量，适合机载算力、低延迟控制和状态估计误差。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4"/>
              </a:spcAft>
            </a:pP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损失函数设计要覆盖安全、目标推进、航向一致和控制平滑四类约束。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2784" y="2834640"/>
            <a:ext cx="5138928" cy="1956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4"/>
              </a:spcAft>
            </a:pP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可引入更强的learned memory，用于处理需要回退的Mine类长时规划。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4"/>
              </a:spcAft>
            </a:pP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可以把任务语义、局部可通行性和风险预测纳入目标函数，扩展到搜索、巡检和跟随任务。</a:t>
            </a:r>
          </a:p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4"/>
              </a:spcAft>
            </a:pPr>
            <a:r>
              <a:rPr sz="163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实机闭环仍需把策略输出、姿态控制和传感器延迟作为一个整体设计。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94944" y="5230368"/>
            <a:ext cx="10789920" cy="0"/>
          </a:xfrm>
          <a:prstGeom prst="line">
            <a:avLst/>
          </a:prstGeom>
          <a:ln w="12700">
            <a:solidFill>
              <a:srgbClr val="9B9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50976" y="5468112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全局监督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5870448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训练期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6172200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ToA / 可达性 / 拓扑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4736" y="5468112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反应式策略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4736" y="5870448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部署期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4736" y="6172200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低延迟机载推理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8495" y="5468112"/>
            <a:ext cx="3304031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80" b="1">
                <a:solidFill>
                  <a:srgbClr val="DC0000"/>
                </a:solidFill>
                <a:latin typeface="Times New Roman"/>
                <a:ea typeface="Times New Roman"/>
                <a:cs typeface="Times New Roman"/>
              </a:rPr>
              <a:t>闭环控制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8495" y="5870448"/>
            <a:ext cx="33040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8495" y="6172200"/>
            <a:ext cx="33040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姿态与推力补偿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generated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0" y="3054096"/>
            <a:ext cx="12188952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谢谢！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ep:Properties xmlns:ep="http://schemas.openxmlformats.org/officeDocument/2006/extended-properties" xmlns:vt="http://schemas.openxmlformats.org/officeDocument/2006/docPropsVTypes">
  <ep:TotalTime>0</ep:TotalTime>
  <ep:Words>0</ep:Words>
  <ep:Application>Microsoft PowerPoint</ep:Application>
  <ep:PresentationFormat>On-screen Show (4:3)</ep:PresentationFormat>
  <ep:Paragraphs>0</ep:Paragraphs>
  <ep:Slides>0</ep:Slides>
  <ep:Notes>0</ep:Notes>
  <ep:HiddenSlides>0</ep:HiddenSlides>
  <ep:MMClips>0</ep:MMClips>
  <ep:ScaleCrop>false</ep:ScaleCrop>
  <ep: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ep:HeadingPairs>
  <ep:TitlesOfParts>
    <vt:vector size="1" baseType="lpstr">
      <vt:lpstr>Office Theme</vt:lpstr>
    </vt:vector>
  </ep:TitlesOfParts>
  <ep:Manager/>
  <ep:Company/>
  <ep:LinksUpToDate>false</ep:LinksUpToDate>
  <ep:SharedDoc>false</ep:SharedDoc>
  <ep:HyperlinkBase/>
  <ep:HyperlinksChanged>false</ep:HyperlinksChanged>
  <ep:AppVersion>16.0000</ep:AppVersion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Paper Report</dc:title>
  <dc:subject/>
  <dc:creator>paper2ppt</dc:creator>
  <cp:keywords/>
  <dc:description>generated using python-pptx</dc:description>
  <cp:lastModifiedBy>paper2ppt</cp:lastModifiedBy>
  <cp:revision>1</cp:revision>
  <dcterms:created xsi:type="dcterms:W3CDTF">2026-01-01T00:00:00Z</dcterms:created>
  <dcterms:modified xsi:type="dcterms:W3CDTF">2026-01-01T00:00:00Z</dcterms:modified>
  <cp:category/>
</cp:coreProperties>
</file>