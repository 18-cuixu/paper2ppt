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475488" y="2670048"/>
            <a:ext cx="11265408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SPOT: Spatio-Temporal Obstacle-free Trajectory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Planning for UAVs in Unknown Dynamic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58768"/>
            <a:ext cx="1218895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Astik Srivastava et al.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arXiv:2602.01189v2 / ICRA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论文关注未知动态环境中的四旋翼在线避障与轨迹规划。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传统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/轨⁠迹⁠优⁠化方法在静态障碍中效果较好，但动⁠态⁠障⁠碍会改变空间占用。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许多动态规划方法依赖地图融合、运动捕捉或少量障碍假设，真实部署约束较强。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目标是在无地图框架下，将视觉检测、时空RRT*、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和轨⁠迹⁠优⁠化联成闭环。</a:t>
            </a:r>
          </a:p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问题链路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感知层：从深度图和检测框得到静态/动态点云。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规划层：在空间和时间联合判断未来占用。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执行层：死锁或风险出现时切换backup轨迹。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233672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ICRA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论文状态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arXiv:2602.01189v2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规划空间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位置 + 到达时间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动态障碍规模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仿真密度最高设置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动态障碍下的死锁问题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动⁠态⁠障⁠碍会让当前nominal轨迹突然不可行，仅靠局部优化可能停在危险区域。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将backup轨迹作为安全兜底，使无人机先脱离拥挤区域再回到目标规划。</a:t>
            </a:r>
          </a:p>
        </p:txBody>
      </p:sp>
      <p:pic>
        <p:nvPicPr>
          <p:cNvPr id="7" name="Picture 6" descr="fig1_backup_sequence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4250230" y="2487168"/>
            <a:ext cx="3642771" cy="24505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6656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40080" y="5230368"/>
            <a:ext cx="109270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图中绿色为原目标轨迹，红色为动⁠态⁠障⁠碍导致风险后的backup轨迹。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流程不是单次避障，而是在deadlock、backup tracking和replanning之间切换。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现有方法局限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9105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静态 SFC 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0899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先由全局路径生成凸多面体走廊，再在走廊内优化轨迹。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对静态障碍适用，但没有显式处理未来时刻的动态占用。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若只把动⁠态⁠障⁠碍作为优化约束，高密度场景中容易产生不可行或保守解。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走廊本身如果没有时间属性，障碍“稍后进入走廊”的风险很难提前排除。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822191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94944" y="398678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动态规划路线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15968"/>
            <a:ext cx="10899648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部分方法需要运动捕捉或较准确的全局动⁠态⁠障⁠碍轨迹。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粒子地图或ESDF类方法带来地图维护成本。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多数方法缺少backup机制，目标路径暂时不可达时容易死锁。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在机载视觉条件下，有⁠限⁠视⁠场和遮挡还会放大动⁠态⁠障⁠碍预测误差。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1.4 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提出面向未知动态环境的无地图时空轨迹规划框架。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将RRT* 节点扩展为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状态，把到达时间纳入碰撞判断。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基于视觉分割与跟踪，将点云区分为静态和动态部分。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构造同时考虑静态障碍和预测动⁠态⁠障⁠碍的spatio‑temporal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引入backup planning，在目标路径不可达或悬停风险出现时生成安全中间目标。</a:t>
            </a:r>
          </a:p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贡献链路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表示：空间位置和时间联合编码。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约束：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与动⁠态⁠障⁠碍预测同步更新。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安全：backup模块处理死锁和紧急避障。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233672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10 障碍成功率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SPOT 与基线最高值持平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80.2%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30 障碍成功率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明显高于无 backup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430 mm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实机轴距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微型四旋翼平台验证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系统架构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系统由感知、时空路径搜索、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生成、MINCO轨⁠迹⁠优⁠化和飞控执行组成。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核心差异是将动⁠态⁠障⁠碍跟踪直接进入规划，而不是先维护全局地图。</a:t>
            </a:r>
          </a:p>
        </p:txBody>
      </p:sp>
      <p:pic>
        <p:nvPicPr>
          <p:cNvPr id="7" name="Picture 6" descr="fig2_architectu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3937514" y="2542032"/>
            <a:ext cx="4323066" cy="21579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" y="491947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102352"/>
            <a:ext cx="10899648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静态点云和动态点云分开进入规划链路，动态点云由检测框和速度估计传播到未来时刻。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上层规划输出trajectory setpoints，底层飞控执行；执行过程中FSM持续判断是否进入重规划或backup。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这种架构把感知、预测、搜索、走廊约束和轨⁠迹⁠优⁠化组织成实时闭环。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FSM 决策模式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规划器由Initial、Incremental和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三种模式切换，避免单一路径搜索失效。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FSM同时监控RRT路径、预测horizon、当前轨迹安全性和deadlock状态。</a:t>
            </a:r>
          </a:p>
        </p:txBody>
      </p:sp>
      <p:pic>
        <p:nvPicPr>
          <p:cNvPr id="7" name="Picture 6" descr="fig3_fsm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884537" y="2578608"/>
            <a:ext cx="3216941" cy="2304288"/>
          </a:xfrm>
          <a:prstGeom prst="rect">
            <a:avLst/>
          </a:prstGeom>
        </p:spPr>
      </p:pic>
      <p:pic>
        <p:nvPicPr>
          <p:cNvPr id="8" name="Picture 7" descr="fig4_st_rrt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951838" y="2578608"/>
            <a:ext cx="3305331" cy="23042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4944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248656"/>
            <a:ext cx="10899648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左图给出Initial、Incremental、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的状态转移，右图展示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在时空障碍中的搜索结果。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Initial寻找可行路径；Incremental继续扩展树并检查当前轨迹；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在无可行目标路径或悬停风险出现时生成即时安全机动。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4D 节点与可达性约束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将节点表示为三维位置和到达时间，边连接需要同时满足因果性和速度可达性。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这样每条候选边都能在未来障碍轨迹中做碰撞检查。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时间维度不是附加标签，而是决定节点是否能连接、边是否安全的核心状态。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nᵢ = (xᵢ, yᵢ, zᵢ, tᵢ)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    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F(nᵢ) = { nⱼ | tⱼ &gt; tᵢ,  ||pⱼ - pᵢ|| &lt;= vₘₐₓ(tⱼ - tᵢ)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    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Cₑ = ||pⱼ - pᵢ|| + w(tⱼ - tᵢ)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tⱼ&gt;tᵢ 保证树边按时间向前扩展，避免规划出物理上无法执行的非因果路径。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速度约束把空间距离和到达时间耦合起来，过远或过短时间到达的节点会被排除。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每条边生成后再沿时间片查询预测障碍，搜索阶段已经提前过滤一部分未来碰撞。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Cₑ 中的w控制时间代价权重，w越大，路径更倾向于减少等待和绕行时间。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时空采样与碰撞查询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论文将Informed RRT* 扩展到时空采样，并用hash grid加速未来动⁠态⁠障⁠碍查询。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采样不只限制空间椭球，也给新节点分配到达时间。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空间采样和时间采样共同决定候选边，随后进入动⁠态⁠障⁠碍预测网格做局部查询。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    ||pₛ - p|| + ||p - p(g)|| &lt;= cᵦ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    tᵣ = tₛ + k·cᵦ / w,     k ~ U(0,1)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G[tᵦ, cell(p(t))] &lt;- Oᵈ(t)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cᵦ定义当前最优路径诱导的informed set，减少无效空间采样。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随机时间项让候选节点覆盖未来时间片，支持动⁠态⁠障⁠碍预测。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hash grid以时间bin和空间cell为索引存储动态点云，查询复杂度由全局扫描变为邻域查找。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这种结构适合在⁠线⁠重⁠规⁠划：树扩展、碰撞检测和障碍预测可以在短horizon内循环更新。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动态障碍传播与时空 SFC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由空间走廊扩展为时空走廊：每段路径的障碍集合包含静态点云和未来动态点云。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动态点云使用常速度模型在短时间horizon内传播。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走廊生成时只使用路径段时间范围内可能相交的障碍，避免把无关未来点云全部纳入约束。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    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o(t) = o(tᵢ) + vₒ(t - tᵢ)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Tᵢⱼ = {tᵢ, tᵢ+Δt, tᵢ+2Δt, ..., tⱼ}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Oᵢⱼ = Oˢ ∪ Oᵈᵢⱼ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Oˢ 表示静态障碍；Oᵈᵢⱼ 表示在该路径段时间范围内预测到的动⁠态⁠障⁠碍。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论文实现中 Δt=0.2 s，最大预测间隔限制为2 s，兼顾预测精度和计算量。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因此不仅包住空间路径，还随时间过滤可能进入走廊的动⁠态⁠障⁠碍。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当动⁠态⁠障⁠碍速度估计变化时，Oᵈᵢⱼ 会随重规划刷新，走廊约束也同步更新。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时空 SFC 可视化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沿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生成的路径段构造凸多面体，并把动⁠态⁠障⁠碍未来位置纳入走廊生成。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红到灰的颜色表示时间演化，绿色线为最终优化轨迹。</a:t>
            </a:r>
          </a:p>
        </p:txBody>
      </p:sp>
      <p:pic>
        <p:nvPicPr>
          <p:cNvPr id="7" name="Picture 6" descr="fig5_sfc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4843701" y="2487168"/>
            <a:ext cx="2492405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" y="52852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468112"/>
            <a:ext cx="1089964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动⁠态⁠障⁠碍不是只在当前帧避开，而是在路径段对应的时间窗口内参与走廊构造。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该设计把“空间上可通行”进一步收紧为“到达时间上也安全”。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轨迹优化目标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给定时空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后，局部轨迹由MINCO参数化并通过L-BFGS优化。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目标同时约束平滑性、动力学限制和走廊违反惩罚。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该阶段把离散搜索路径转成可执行连续轨迹，是连接规划器和飞控的最后一步。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(7a)    min(ξ)   Jₛ(q,T) + Jd(q,T)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(7b)    </a:t>
            </a:r>
            <a:r>
              <a:rPr sz="20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s.t.   p(t) = M(q,T),     t ∈ Tᵢ,  i = 1,...,N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(7c)    s⁽⁰:²⁾(0)=s₀⁽⁰:²⁾,     s⁽⁰:²⁾(T)=s(f)⁽⁰:²⁾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Jₛ 对应squared-jerk控制代价，使轨迹在速度、加速度变化上保持平滑。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Jd汇总最大速度、加速度和走廊违反惩罚，保证轨迹不穿出时空安全区域。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边界条件同时约束起终点的位置、速度和加速度。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若当前nominal轨迹不再安全，FSM会触发backup或重新进入搜索与优化闭环。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Backup Trajectory 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5102352" cy="3950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backup模块处理目标路径暂时不可达或当前位置存在碰撞风险的场景。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首先围绕UAV当前位置构造仅考虑静态障碍的凸区域Cₛ。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随后用repulsive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CAPF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根据检测框尺寸计算远离障碍的逃逸方向。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逃逸方向与Cₛ的交点作为backup goal，再由 ST‑RRT* + SFC +轨⁠迹⁠优⁠化生成备⁠份⁠轨⁠迹。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/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/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当UAV到达backup goal后，FSM回到Initial模式，继续向原目标规划。</a:t>
            </a:r>
          </a:p>
        </p:txBody>
      </p:sp>
      <p:pic>
        <p:nvPicPr>
          <p:cNvPr id="7" name="Picture 6" descr="fig1_backup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277285" y="1719072"/>
            <a:ext cx="4343540" cy="340156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16752" y="5285232"/>
            <a:ext cx="4901184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5961888" y="5449824"/>
            <a:ext cx="5010912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四个阶段展示deadlock → backup generation → tracking → replanning的切换。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核心作用是先脱离高风险区域，再恢复面向目标的规划。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2.9 方法闭环总结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的方法链路是视觉动态点云、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、时空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、MINCO和backup切换组成的闭环。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感知层提供动态点云，搜索层给出时空路径，优化层生成可执行轨迹，FSM决定何时重规划或进入backup。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7004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数据流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392" y="267004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模式切换</a:t>
            </a:r>
          </a:p>
        </p:txBody>
      </p:sp>
      <p:pic>
        <p:nvPicPr>
          <p:cNvPr id="9" name="Picture 8" descr="fig2_architectu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267226" y="3035808"/>
            <a:ext cx="4616155" cy="2304288"/>
          </a:xfrm>
          <a:prstGeom prst="rect">
            <a:avLst/>
          </a:prstGeom>
        </p:spPr>
      </p:pic>
      <p:pic>
        <p:nvPicPr>
          <p:cNvPr id="10" name="Picture 9" descr="fig3_fsm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977745" y="3035808"/>
            <a:ext cx="3216941" cy="230428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4944" y="550468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676656" y="5687568"/>
            <a:ext cx="1089964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系统架构负责数据流，FSM负责状态转换，两者共同决定实时重规划行为。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无地图设计降低地图维护依赖，但对视觉检测、短期运动预测和重规划频率提出更高要求。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动态障碍密度下的成功率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实验在10、20、30个动⁠态⁠障⁠碍密度下比较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、无backup版本和两个基线。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每个环境执行50次独立试验，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在高密度场景仍保持最高成⁠功⁠率。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" y="2377440"/>
          <a:ext cx="10625328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6332"/>
                <a:gridCol w="2656332"/>
                <a:gridCol w="2656332"/>
                <a:gridCol w="2656332"/>
              </a:tblGrid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SPOT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92.0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SPOT-w/o backup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94.2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82.4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[14]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71.3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57.1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[7]-5m/s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[7]-1m/s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+28.0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高密度提升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80.2% vs 52.2%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20 障碍成功率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高于无 backup 9.6 个百分点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8976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6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每组试验次数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6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三种障碍密度独立评估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Backup 消融分析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backup机制对高动⁠态⁠障⁠碍密度场景贡献最明显。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10个障碍时，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和无backup版本成⁠功⁠率都较高，差距只有5.8个百分点。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30个障碍时，无backup版本成⁠功⁠率下降到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52.2%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仍达到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80.2%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论文解释为：无backup时UAV可能在目标路径不可达时悬停，从而更容易与动⁠态⁠障⁠碍碰撞。</a:t>
            </a:r>
          </a:p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消融表II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10 obstacles：length 16.77 m，replans 3，backup 0，time 19.13 s。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30 obstacles：length 26.44 m，replans 23，backup 5，time 50.9 s。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233672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+28.0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30 障碍提升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80.2% - 52.2%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 Backup 次数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30 障碍密度下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 Replans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30 障碍密度下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仿真与管线验证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论文同时验证ground-truth动⁠态⁠障⁠碍输入和完整视觉管线两类场景。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PX4 SITL + Gazebo场景使用onboard detector提供检测框，再进行动态点云分割和规划。</a:t>
            </a:r>
          </a:p>
        </p:txBody>
      </p:sp>
      <p:pic>
        <p:nvPicPr>
          <p:cNvPr id="7" name="Picture 6" descr="fig6_sim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34650" y="2578608"/>
            <a:ext cx="3955626" cy="2670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21424" y="2596896"/>
            <a:ext cx="4498848" cy="2542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仿真图展示了无人机在密集动⁠态⁠障⁠碍中的轨迹演化。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绿色轨迹对应可执行路径，红色柱状/点云区域表示未来可能占用。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完整视觉管线把机载检测框转成动态点云，再进入同一套时⁠空⁠规⁠划链路。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深度相机需要yaw planning保持面向运动方向，以维持检测和点云质量。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43153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614416"/>
            <a:ext cx="1089964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Gazebo验证更接近sim-to-real设置，因为障碍信息来自机载检测器而非ground truth。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这组实验说明规划框架可以接入视觉前端，而不是只依赖理想障碍输入。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实机避障结果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实机实验在自研微型四旋翼上验证静态障碍和动态人形障碍避障。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平台搭载Intel RealSense D455、T265、Jetson Xavier NX和PX4飞控。</a:t>
            </a:r>
          </a:p>
        </p:txBody>
      </p:sp>
      <p:pic>
        <p:nvPicPr>
          <p:cNvPr id="7" name="Picture 6" descr="fig9_hardwa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978761" y="2578608"/>
            <a:ext cx="8295436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" y="568756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852160"/>
            <a:ext cx="10899648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上排是静态障碍避让过程，下排是多人动⁠态⁠障⁠碍避让过程及规划轨迹。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实机结果说明该框架可以在机载感知和计算条件下运行。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优势与局限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475488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25860"/>
                </a:solidFill>
                <a:latin typeface="Times New Roman"/>
                <a:ea typeface="Times New Roman"/>
                <a:cs typeface="Times New Roman"/>
              </a:rPr>
              <a:t>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5074920" cy="16642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时空建模直接处理动态障碍未来占用。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无地图框架减少 ESDF / 粒子地图等维护开销。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模块提升高密度动态障碍下的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安全性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仿真、PX4 SITL 和实机结果覆盖较完整验证链路。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822191"/>
            <a:ext cx="10771632" cy="18288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272784" y="1572768"/>
            <a:ext cx="475488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25860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901952"/>
            <a:ext cx="5074920" cy="16642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动态障碍预测使用</a:t>
            </a:r>
            <a:r>
              <a:rPr sz="192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短时常速度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假设。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复杂人群交互或高速机动障碍需要更强运动模型。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无地图设计依赖当前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感知质量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，遮挡和误检会影响分割。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和轨迹优化仍需在复杂三维狭窄空间检验。</a:t>
            </a:r>
          </a:p>
        </p:txBody>
      </p:sp>
      <p:sp>
        <p:nvSpPr>
          <p:cNvPr id="11" name="SPOT_BOTTOM_NOTE"/>
          <p:cNvSpPr txBox="1"/>
          <p:nvPr/>
        </p:nvSpPr>
        <p:spPr>
          <a:xfrm>
            <a:off x="749808" y="3968496"/>
            <a:ext cx="1065276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marL="210000" indent="-140000">
              <a:lnSpc>
                <a:spcPct val="90000"/>
              </a:lnSpc>
              <a:spcAft>
                <a:spcPts val="0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方法边界：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更适合感知更新稳定、障碍运动短时可预测的动态飞行场景。</a:t>
            </a:r>
          </a:p>
          <a:p>
            <a:pPr marL="350000" indent="-120000">
              <a:lnSpc>
                <a:spcPct val="90000"/>
              </a:lnSpc>
              <a:spcAft>
                <a:spcPts val="0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高速动态障碍、复杂人群交互和三维狭窄空间仍是主要验证方向。</a:t>
            </a:r>
          </a:p>
        </p:txBody>
      </p:sp>
      <p:graphicFrame>
        <p:nvGraphicFramePr>
          <p:cNvPr id="12" name="SPOT_BOUNDARY_TABLE"/>
          <p:cNvGraphicFramePr>
            <a:graphicFrameLocks noGrp="1"/>
          </p:cNvGraphicFramePr>
          <p:nvPr/>
        </p:nvGraphicFramePr>
        <p:xfrm>
          <a:off x="786384" y="4791456"/>
          <a:ext cx="10588752" cy="786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9584"/>
                <a:gridCol w="3529584"/>
                <a:gridCol w="3529584"/>
              </a:tblGrid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适用场景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主要风险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验证方向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感知稳定的动态飞行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142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短时常速度假设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142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高速动态障碍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机载算力受限的系统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遮挡与误检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三维狭窄空间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结论归纳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09344"/>
            <a:ext cx="1108252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将动态避障问题从纯空间规划扩展为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时⁠空⁠规⁠划。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表示层面：节点包含位置和到达时间，候选边同时满足因果性和速度可达性。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感知层面：动⁠态⁠障⁠碍由机载视觉检测和跟踪得到，不依赖运动捕捉。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约束层面：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同时考虑静态点云和未来动态点云，走廊随时间收紧。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执行层面：FSM在Initial、Incremental、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之间切换，增强死⁠锁⁠场⁠景安全性。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结果层面：30个动⁠态⁠障⁠碍下成⁠功⁠率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80.2%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，显著高于无backup版本。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675887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整体上，论文把动态预测、走廊约束和应急模式放进同一个在⁠线⁠重⁠规⁠划闭环。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04164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49808" y="420624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工程复现验证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535424"/>
            <a:ext cx="10844784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感知侧：检测延迟、遮挡误检、动态点云分割误差。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规划侧：预测horizon、Δt、重规划频率和hash grid查询代价。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执行侧：轨迹跟踪误差、悬停风险和backup切换阈值。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系统侧：需要把动态预测、轨迹安全检查和飞控跟踪误差放在同一测试闭环中评估。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系统启发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09344"/>
            <a:ext cx="1108252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该方法适合作为未知动态环境中的局部重规划与应急避障模块。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任务层可给出目标点、优先级和禁飞约束；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负责局部时空避障。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与语义任务结合时，动⁠态⁠障⁠碍类别、速度和预测可信度可以进入规划代价。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多机系统中可将其他UAV视作动⁠态⁠障⁠碍，但需要补充通信延迟和互相预测机制。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该框架的薄弱环节集中在运动预测、高速动⁠态⁠障⁠碍和多机协调backup策略。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675887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迁移到多机系统时，规划器需要同时处理局部避障、队形目标和通信不确定性。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04164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49808" y="420624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系统迁移取舍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535424"/>
            <a:ext cx="10844784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无地图时⁠空⁠规⁠划减少地图维护成本，但更依赖实时视觉检测和短期预测稳定性。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基于地图融合的动态避障信息更完整，但需要承担建图、更新和查询开销。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实际系统可按速度、障碍密度和算力预算选择二者的组合边界。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多机任务中还需要把通信延迟、互相预测误差和backup优先级纳入统一调度。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